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2026—2030 五年战略计划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银行信息科技风险监管</a:t>
            </a:r>
            <a:r>
              <a:rPr sz="3300" b="1">
                <a:solidFill>
                  <a:srgbClr val="C9A84C"/>
                </a:solidFill>
                <a:latin typeface="Noto Serif SC"/>
              </a:rPr>
              <a:t>评级提升</a:t>
            </a:r>
          </a:p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协同作战计划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政策性银行科技风险治理 · 十大战役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CONTENTS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86" y="1257268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01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综述：目的、逻辑与范围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1695407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02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现状诊断：基础能力与核心问题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2133546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03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监管动态与趋势（2026—2030）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2571685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04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方针原则与战略路径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3009824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05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十大战役框架（定义性文档）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3447963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06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2026年作战计划（夯实基础·攻坚评级）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6" y="3886102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07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2027年作战计划（深化体系·重点成型）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4324241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08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2028年作战计划（争创优良·全面成熟）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4762380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09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2029年作战计划（数字赋能·智能管控）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" y="5200519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10</a:t>
            </a:r>
            <a:r>
              <a:rPr sz="975" b="0">
                <a:solidFill>
                  <a:srgbClr val="8A9BB5"/>
                </a:solidFill>
                <a:latin typeface="Noto Sans SC"/>
              </a:rPr>
              <a:t>2030年作战计划（持续优化·长效治理）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5638659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11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分工协作与三角联席机制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6000599"/>
            <a:ext cx="5333866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12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保障机制（资源·考核·应急）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4937" y="1409664"/>
            <a:ext cx="4914777" cy="1809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核心数字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4937" y="1714457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4937" y="1809704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十大战役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4937" y="2190695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覆盖8+2个监管评级维度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771" y="1714457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771" y="1809704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五年周期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771" y="2190695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2026—2030 系统提升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4937" y="2647883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4937" y="2743131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≥90%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4937" y="3124121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各维度覆盖率目标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771" y="2647883"/>
            <a:ext cx="2285942" cy="76198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6350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3771" y="2743131"/>
            <a:ext cx="2285942" cy="3428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1">
                <a:solidFill>
                  <a:srgbClr val="C9A84C"/>
                </a:solidFill>
                <a:latin typeface="Noto Serif SC"/>
              </a:rPr>
              <a:t>≥95%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771" y="3124121"/>
            <a:ext cx="2285942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8A9BB5"/>
                </a:solidFill>
                <a:latin typeface="Noto Sans SC"/>
              </a:rPr>
              <a:t>全员培训完成率（2026）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4937" y="3657508"/>
            <a:ext cx="491477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三大核心机制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4937" y="3905152"/>
            <a:ext cx="4914777" cy="6857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风险—科技—数据三角联席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：核心日常执行机制，三方事前会签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问题整改销号闭环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：全线上化任务追踪，审计独立销号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IT审计独立性保障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：第三道防线独立鉴证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4937" y="4990975"/>
            <a:ext cx="4914777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五年演进主题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4937" y="5238619"/>
            <a:ext cx="4914777" cy="11429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2026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夯实基础·攻坚评级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2027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深化体系·重点成型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2028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争创优良·全面成熟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2029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数字赋能·智能管控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2030 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持续优化·长效治理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第一章 · 综述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制定目的与目标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2026年核心目标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严格对照《商业银行信息科技风险管理指引》八大评级维度，以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深化落地、提升实质有效性、全面提升质量标尺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为主线，聚焦监管高频扣分项，推动评级从[当前级别]提升至[目标级别]，信息科技风险得分提升[目标分值]以上，助力全行综合监管评级升级。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5192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5192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4737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五年战略目标（至2030年）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737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监管评级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稳定保持优良等级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，建立可持续运转的科技风险治理长效机制，实现从"底线合规"向"高质量治理"的持续转变，力争达到政策性银行同业先进水平。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998" y="1181070"/>
            <a:ext cx="3581310" cy="304792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6998" y="1181070"/>
            <a:ext cx="3581310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2" y="1390615"/>
            <a:ext cx="3162220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适用范围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2" y="1695407"/>
            <a:ext cx="3162220" cy="241928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覆盖全行各部门、各分支机构。核心聚焦</a:t>
            </a:r>
            <a:r>
              <a:rPr sz="975" b="1">
                <a:solidFill>
                  <a:srgbClr val="E8CC6A"/>
                </a:solidFill>
                <a:latin typeface="Noto Sans SC"/>
              </a:rPr>
              <a:t>信息科技部（含五个专业板块）、风险管理部、审计部、数据管理部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四大关键职能，同时明确业务部门在特定战役中的协同职责。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386" y="4400439"/>
            <a:ext cx="11124921" cy="1904952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386" y="4400439"/>
            <a:ext cx="28574" cy="19049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881" y="4476638"/>
            <a:ext cx="10782030" cy="17525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方案立论起点：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本行信息科技风险管理的核心矛盾不在于"有没有"，而在于</a:t>
            </a:r>
            <a:r>
              <a:rPr sz="975" b="1">
                <a:solidFill>
                  <a:srgbClr val="D94F4F"/>
                </a:solidFill>
                <a:latin typeface="Noto Sans SC"/>
              </a:rPr>
              <a:t>底线思维过重</a:t>
            </a:r>
            <a:r>
              <a:rPr sz="975" b="0">
                <a:solidFill>
                  <a:srgbClr val="F0ECE4"/>
                </a:solidFill>
                <a:latin typeface="Noto Sans SC"/>
              </a:rPr>
              <a:t>——各项工作以满足监管最低要求为隐性目标，合规水平普遍接近监管底线。要从"基本合格"走向"优良"，必须在各维度上建立起</a:t>
            </a:r>
            <a:r>
              <a:rPr sz="975" b="1">
                <a:solidFill>
                  <a:srgbClr val="E8CC6A"/>
                </a:solidFill>
                <a:latin typeface="Noto Sans SC"/>
              </a:rPr>
              <a:t>超越底线的质量厚度</a:t>
            </a:r>
            <a:r>
              <a:rPr sz="975" b="0">
                <a:solidFill>
                  <a:srgbClr val="F0ECE4"/>
                </a:solidFill>
                <a:latin typeface="Noto Sans SC"/>
              </a:rPr>
              <a:t>。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核心战略逻辑：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将八大监管评级维度映射为十大战役，按强度分层推进——每年选定1—2个方向集中投入形成</a:t>
            </a:r>
            <a:r>
              <a:rPr sz="975" b="1">
                <a:solidFill>
                  <a:srgbClr val="D94F4F"/>
                </a:solidFill>
                <a:latin typeface="Noto Sans SC"/>
              </a:rPr>
              <a:t>重点突破</a:t>
            </a:r>
            <a:r>
              <a:rPr sz="975" b="0">
                <a:solidFill>
                  <a:srgbClr val="F0ECE4"/>
                </a:solidFill>
                <a:latin typeface="Noto Sans SC"/>
              </a:rPr>
              <a:t>，其余战役以</a:t>
            </a:r>
            <a:r>
              <a:rPr sz="9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或</a:t>
            </a:r>
            <a:r>
              <a:rPr sz="975" b="1">
                <a:solidFill>
                  <a:srgbClr val="2BA8A8"/>
                </a:solidFill>
                <a:latin typeface="Noto Sans SC"/>
              </a:rPr>
              <a:t>深化维护</a:t>
            </a:r>
            <a:r>
              <a:rPr sz="975" b="0">
                <a:solidFill>
                  <a:srgbClr val="F0ECE4"/>
                </a:solidFill>
                <a:latin typeface="Noto Sans SC"/>
              </a:rPr>
              <a:t>为定位，确保全维度覆盖的同时实现重点跨档提升。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第二章 · 现状诊断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现有基础能力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1112492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75" b="0">
                <a:solidFill>
                  <a:srgbClr val="8A9BB5"/>
                </a:solidFill>
                <a:latin typeface="Noto Sans SC"/>
              </a:rPr>
              <a:t>本行已具备以下基础能力，本计划以此为起点推进深化与提升，而非重复建设。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47763"/>
          <a:ext cx="11124920" cy="2971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199"/>
                <a:gridCol w="7981750"/>
                <a:gridCol w="1142971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基础领域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现状描述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状态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IT服务管理框架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ITIL/ISO 20000体系已实施，ITMIS平台（含事件、变更、配置管理模块）运行中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信息安全管理体系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ISMS/ISO 27001已通过认证，安全制度体系已建立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已认证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等级保护测评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重要系统已完成等保2.0测评并通过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密码测评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核心系统已完成商用密码应用安全性评估（密评）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安全运营与监控平台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SOC、漏洞扫描平台、态势感知平台、ITMIS运维平台已部署上线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终端与数据安全工具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终端安全管理平台（EDR/终端防护）、DLP（数据防泄漏）已部署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特权账号管理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特权账号管理平台（PAM）已上线，覆盖服务器、数据库等关键系统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容灾基础设施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容灾中心已建设，具备异地灾备能力，支撑RTO/RPO达标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边界防御设施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防火墙、IDS/IPS、WAF等边界防御设备已部署；网络及主机监控设施齐备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B7DD8"/>
                          </a:solidFill>
                          <a:latin typeface="Noto Sans SC"/>
                        </a:rPr>
                        <a:t>已部署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软件开发成熟度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CMMi 已通过评估（软件开发能力成熟度基础已具备）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825" b="1">
                          <a:solidFill>
                            <a:srgbClr val="3AAD6B"/>
                          </a:solidFill>
                          <a:latin typeface="Noto Sans SC"/>
                        </a:rPr>
                        <a:t>已通过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第二章 · 现状诊断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核心问题诊断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9526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08A3C"/>
                </a:solidFill>
                <a:latin typeface="Noto Serif SC"/>
              </a:rPr>
              <a:t>问题一：底线思维过重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232404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上述基础框架已解决"有没有"的问题，但在执行深度和实质有效性上普遍存在底线思维：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等保/密评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重在通过而非整改落地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安全设备与平台的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检测视野盲区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普遍存在——超出默认配置与基础功能范围的能力被忽略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各领域合规水平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普遍接近监管最低要求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29526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问题二：少量真实缺口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232404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0">
                <a:solidFill>
                  <a:srgbClr val="8A9BB5"/>
                </a:solidFill>
                <a:latin typeface="Noto Sans SC"/>
              </a:rPr>
              <a:t>存在少量基础性缺口，如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数据治理层面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：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数据资产目录、数据分类分级等基础工作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尚未系统落地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，成为评级提升的突出短板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对应战役八（数据治理），2026年首要任务是评估现状并确定工作方向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0">
                <a:solidFill>
                  <a:srgbClr val="F0ECE4"/>
                </a:solidFill>
                <a:latin typeface="Noto Sans SC"/>
              </a:rPr>
              <a:t>具体缺口范围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有待核实确认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（据了解2025年部分工作已启动）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4286142"/>
            <a:ext cx="11124921" cy="2095447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386" y="4286142"/>
            <a:ext cx="28574" cy="209544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81" y="4362340"/>
            <a:ext cx="10782030" cy="19430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750"/>
              </a:spcAft>
            </a:pPr>
            <a:r>
              <a:rPr sz="1050" b="0">
                <a:solidFill>
                  <a:srgbClr val="E8CC6A"/>
                </a:solidFill>
                <a:latin typeface="Noto Sans SC"/>
              </a:rPr>
              <a:t>对评级的影响判断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0">
                <a:solidFill>
                  <a:srgbClr val="F0ECE4"/>
                </a:solidFill>
                <a:latin typeface="Noto Sans SC"/>
              </a:rPr>
              <a:t>当前各评级维度的总体状态是</a:t>
            </a:r>
            <a:r>
              <a:rPr sz="1050" b="1">
                <a:solidFill>
                  <a:srgbClr val="E8CC6A"/>
                </a:solidFill>
                <a:latin typeface="Noto Sans SC"/>
              </a:rPr>
              <a:t>「维度均有覆盖，执行多在边缘」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——底线思维虽可在各维度保持基本合格、避免明显失分，但在各维度上缺乏显著高于监管基准的质量优势，导致评级难以实现跨档提升。</a:t>
            </a:r>
          </a:p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1050" b="0">
                <a:solidFill>
                  <a:srgbClr val="F0ECE4"/>
                </a:solidFill>
                <a:latin typeface="Noto Sans SC"/>
              </a:rPr>
              <a:t>要从"基本合格"走向"优良"，核心路径是：</a:t>
            </a:r>
            <a:r>
              <a:rPr sz="1050" b="1">
                <a:solidFill>
                  <a:srgbClr val="3AAD6B"/>
                </a:solidFill>
                <a:latin typeface="Noto Sans SC"/>
              </a:rPr>
              <a:t>全面提标保住基本分 + 重点突破推动评级跨档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。这正是本方案"十大战役·分层强度"设计的根本逻辑。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第三章 · 监管动态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监管政策演进与五年趋势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33866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52876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2026年近期高确定性动向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52876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1695407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《金融科技发展规划（2026—2030年）》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：新一轮五年规划预计2026年发布，明确"人工智能+"深度应用、数据资产价值释放等方向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AI算法风险专项监管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：大模型备案管理、算法审计预计2025—2026年陆续落地；AI模型风险管理专项指引有望出台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数据安全双规落地执法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：金规〔2024〕24号+人行令〔2025〕第3号，2026年是执法检查关键之年，数据分类分级将是检查重点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信息科技风险管理指引修订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：历经15年未整体修订，预计新增AI治理专章、数据资产化框架和第三方风险章节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方针原则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八大核心原则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2931" y="1390615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超越底线，质量优先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：以"实质有效"而非"形式达标"为交付标准；优先采用"深化、提升、落地"，而非"建设、新增、发布"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提标聚焦，重点突破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：每年有意识地选定方向集中投入，形成显著优于监管基准的质量优势；全面提标保住基本分，重点突破推动评级跨档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对标监管，全量覆盖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：以八大评级维度为基准坐标系，建立"评级维度—战役—任务—交付物"四级映射，不留覆盖盲区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协同联动，打破壁垒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：以三大核心协作机制为抓手，推动信息科技部各专业板块与风险、审计、数据管理及业务部门高效联动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5887" y="1390615"/>
            <a:ext cx="4952876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务实落地，量化可考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：所有战役任务明确"牵头板块+协同部门+交付物+量化验收标准+完成时限"，每项工作均有可穿透验证的量化标准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机制兜底，闭环管控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：以"整改销号"机制为保障，强化审计独立验证，形成"发现—认领—整改—验证—销号"全闭环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聚焦提升，证据先行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：优先启动需要长周期积累执行记录的维度（开发测试管理、运行管理），确保迎检时有充足、连续的过程证据链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跟踪监管，动态优化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：以年度复盘和监管政策跟踪为驱动，滚动调整各年度目标，确保计划始终对准监管前沿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五年演进路径与关键指标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485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85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夯实基础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85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攻坚评级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7883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7923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6022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6022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深化体系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022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重点成型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2420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62460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0559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559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争创优良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0559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全面成熟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6958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6998" y="1181070"/>
            <a:ext cx="2000199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5097" y="1381090"/>
            <a:ext cx="192400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097" y="1609684"/>
            <a:ext cx="1924001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数字赋能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5097" y="1800179"/>
            <a:ext cx="1924001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智能管控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495" y="1181070"/>
            <a:ext cx="285742" cy="9524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50" b="0">
                <a:solidFill>
                  <a:srgbClr val="C9A84C"/>
                </a:solidFill>
                <a:latin typeface="Noto Sans SC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91535" y="1181070"/>
            <a:ext cx="1066773" cy="952476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29634" y="1381090"/>
            <a:ext cx="990575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Noto Serif SC"/>
              </a:rPr>
              <a:t>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9634" y="1609684"/>
            <a:ext cx="990575" cy="171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25" b="0">
                <a:solidFill>
                  <a:srgbClr val="F0ECE4"/>
                </a:solidFill>
                <a:latin typeface="Noto Sans SC"/>
              </a:rPr>
              <a:t>持续优化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9634" y="1800179"/>
            <a:ext cx="990575" cy="1523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50" b="0">
                <a:solidFill>
                  <a:srgbClr val="8A9BB5"/>
                </a:solidFill>
                <a:latin typeface="Noto Sans SC"/>
              </a:rPr>
              <a:t>长效治理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386" y="2285942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00" b="0">
                <a:solidFill>
                  <a:srgbClr val="8A9BB5"/>
                </a:solidFill>
                <a:latin typeface="Noto Sans SC"/>
              </a:rPr>
              <a:t>五年关键量化指标演进目标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3386" y="2476438"/>
          <a:ext cx="10572482" cy="21716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971"/>
                <a:gridCol w="2571685"/>
                <a:gridCol w="2285942"/>
                <a:gridCol w="2285942"/>
                <a:gridCol w="2285942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指标类别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指标名称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2026基准建立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系统可用性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核心系统年度可用率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99.99%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安全基线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SAST/DAST扫描闭环整改率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灾备能力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RTO/RPO演练达标率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安全漏洞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高危漏洞平均修复周期（天）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15天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≤ 7天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风险管控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KRI超阈值未处置率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KRI质量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KRI自动采集覆盖率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80%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 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信息科技风险监管评级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攻坚提级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良好等级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优良等级稳定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监管评级维度 → 十大战役映射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386" y="1181070"/>
          <a:ext cx="10934425" cy="3238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695"/>
                <a:gridCol w="2952676"/>
                <a:gridCol w="1428714"/>
                <a:gridCol w="3314617"/>
                <a:gridCol w="1047723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监管评级维度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主要落实年份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牵头责任部门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覆盖率目标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D1 信息科技治理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战役一：治理架构与履职深化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D2 信息科技风险管理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战役二：IT风险管理体系深化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D3 信息安全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战役三：信息安全深化攻坚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2026—2029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D4 开发测试维护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战役四：开发测试安全基线提升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D5 信息科技运行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战役五：IT运行管理深化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D6 业务连续性管理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战役六：业务连续性与灾备实战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≥95%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D7 外包管理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战役七：供应链安全与外包管理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D8 信息科技审计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独立保障机制（贯穿全计划）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审计部（独立）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战役八：数据治理与隐私保护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前瞻性风险防范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战役九：新技术应用与AI安全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建立基础框架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人才与文化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战役十：人才队伍与文化培育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2026—2030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≥90%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第四章 · 战略路径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十大战役 × 五年强度矩阵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181070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2BA8A8"/>
                </a:solidFill>
                <a:latin typeface="Noto Sans SC"/>
              </a:rPr>
              <a:t>深化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AAD6B"/>
                </a:solidFill>
                <a:latin typeface="Noto Sans SC"/>
              </a:rPr>
              <a:t>成熟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6CE89A"/>
                </a:solidFill>
                <a:latin typeface="Noto Sans SC"/>
              </a:rPr>
              <a:t>领先/长效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08A3C"/>
                </a:solidFill>
                <a:latin typeface="Noto Sans SC"/>
              </a:rPr>
              <a:t>待确认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86" y="1409664"/>
          <a:ext cx="11048720" cy="2971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2971"/>
                <a:gridCol w="3238419"/>
                <a:gridCol w="1333466"/>
                <a:gridCol w="1333466"/>
                <a:gridCol w="1333466"/>
                <a:gridCol w="1333466"/>
                <a:gridCol w="1333466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主责部门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战役一·治理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适应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战役二·风险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 / 风险管理部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战役三·安全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D94F4F"/>
                          </a:solidFill>
                          <a:latin typeface="Noto Sans SC"/>
                        </a:rPr>
                        <a:t>攻坚·突破</a:t>
                      </a:r>
                    </a:p>
                  </a:txBody>
                  <a:tcPr anchor="ctr" marL="101600" marR="76200" marT="63500" marB="63500">
                    <a:solidFill>
                      <a:srgbClr val="2E151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智能化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战役四·开发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战役五·运行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赋能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战役六·灾备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重点突破候选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扩展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战役七·外包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深控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长效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战役八·数据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数据管理部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08A3C"/>
                          </a:solidFill>
                          <a:latin typeface="Noto Sans SC"/>
                        </a:rPr>
                        <a:t>待确认</a:t>
                      </a:r>
                    </a:p>
                  </a:txBody>
                  <a:tcPr anchor="ctr" marL="101600" marR="76200" marT="63500" marB="63500">
                    <a:solidFill>
                      <a:srgbClr val="281E1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C9A84C"/>
                          </a:solidFill>
                          <a:latin typeface="Noto Sans SC"/>
                        </a:rPr>
                        <a:t>重点突破</a:t>
                      </a:r>
                    </a:p>
                  </a:txBody>
                  <a:tcPr anchor="ctr" marL="101600" marR="76200" marT="63500" marB="63500">
                    <a:solidFill>
                      <a:srgbClr val="2A2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引领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战役九·AI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信息科技部·风险管理-制度处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输出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战役十·人才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信息科技部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B7DD8"/>
                          </a:solidFill>
                          <a:latin typeface="Noto Sans SC"/>
                        </a:rPr>
                        <a:t>底线保障</a:t>
                      </a:r>
                    </a:p>
                  </a:txBody>
                  <a:tcPr anchor="ctr" marL="101600" marR="76200" marT="63500" marB="63500">
                    <a:solidFill>
                      <a:srgbClr val="121C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深化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3AAD6B"/>
                          </a:solidFill>
                          <a:latin typeface="Noto Sans SC"/>
                        </a:rPr>
                        <a:t>成熟</a:t>
                      </a:r>
                    </a:p>
                  </a:txBody>
                  <a:tcPr anchor="ctr" marL="101600" marR="76200" marT="63500" marB="63500">
                    <a:solidFill>
                      <a:srgbClr val="1224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2BA8A8"/>
                          </a:solidFill>
                          <a:latin typeface="Noto Sans SC"/>
                        </a:rPr>
                        <a:t>持续</a:t>
                      </a:r>
                    </a:p>
                  </a:txBody>
                  <a:tcPr anchor="ctr" marL="101600" marR="76200" marT="63500" marB="63500">
                    <a:solidFill>
                      <a:srgbClr val="1224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1">
                          <a:solidFill>
                            <a:srgbClr val="6CE89A"/>
                          </a:solidFill>
                          <a:latin typeface="Noto Sans SC"/>
                        </a:rPr>
                        <a:t>领先</a:t>
                      </a:r>
                    </a:p>
                  </a:txBody>
                  <a:tcPr anchor="ctr" marL="101600" marR="76200" marT="63500" marB="63500">
                    <a:solidFill>
                      <a:srgbClr val="14281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战役一·治理架构 &amp; 战役二·风险管理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8CC6A"/>
                </a:solidFill>
                <a:latin typeface="Noto Serif SC"/>
              </a:rPr>
              <a:t>战役一：治理架构与履职深化（D1）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IT治理基础架构均已具备；核心在于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履职记录的完整性与可查验性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——检查时能否拿出连续完整的会议纪要、CIO汇报记录、岗位分离执行台账。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CIO履职记录制度化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：统一汇报模板，确保每次汇报留有可迎检的完整记录台账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IT管委会运作规范化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：标准化议题设置和纪要格式，决策有追踪、落实有验证，台账连续可查（≥4次/年）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岗位职责分离落地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：逐人核查开发/测试/运维三类岗位实际权限配置，消除交叉点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IT战略规划年度对齐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：设置每年Q4的战略对齐审查节点，对执行偏差逐项记录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科技风险纳入全面风险管理框架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：明确报告路径与格式标准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《CIO岗位职责说明书》、《岗位职责分离矩阵》、IT管理委员会季度会议纪要、《科技风险治理手册》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战役二：IT风险管理体系深化（D2）★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构建量化、可视、闭环的IT风险管理体系，从"有制度有框架"升级到</a:t>
            </a:r>
            <a:r>
              <a:rPr sz="975" b="1">
                <a:solidFill>
                  <a:srgbClr val="E8CC6A"/>
                </a:solidFill>
                <a:latin typeface="Noto Sans SC"/>
              </a:rPr>
              <a:t>"数据真实、指标有效、预警及时"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；持续积累高质量数据，支撑2030年科技风险量化预测模型。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KRI指标体系优化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：逐指标审查采集路径，按季度推进自动化；2026目标：≥30个指标，自动采集率≥60%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年度全行风险评估（RCSA）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：细化方法论，按系统重要性分批执行，覆盖率100%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分层分级风险报告体系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：细化运营层/管理层/决策层报告模板，逐批次核查报告质量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风险事件管理与损失数据积累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：统一事件分类，强化"记录→损失统计→根因分析→经验固化"全流程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工具平台深化应用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：逐模块激活ITMIS/SOC"已配置但未使用"功能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五年突破路径：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2026→KRI基础 → 2028→内部模拟检查 → 2030→量化预测模型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战役三·信息安全 &amp; 战役四·开发测试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D94F4F"/>
                </a:solidFill>
                <a:latin typeface="Noto Serif SC"/>
              </a:rPr>
              <a:t>战役三：信息安全深化攻坚（D3）★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在ISMS/等保/密评已通过基础上，重点提升安全体系的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执行实质性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——激活现有安全产品完整功能（消除"已购未用"），以穿透检查通过为验收标准。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攻坚·重点突破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信息科技部·网络安全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安全产品功能激活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：逐产品梳理"已购功能 vs 实际启用"，分批激活并验收实际效果；目标：核心功能启用率≥80%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PAM特权账号管理深化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：共享账号清零；特权操作100%可审计；离场权限即时注销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漏洞管理深化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：扩展扫描覆盖面，完善按严重程度分级的整改期限管控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安全基线管理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：为各类系统制定严于厂商默认的安全基线标准，部署自动化检测工具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数据安全双规合规整改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：逐条评估金规〔2024〕24号和人行令〔2025〕第3号差距，制定有优先级的整改计划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《安全产品功能激活路线图》、《PAM深化实施报告》、漏洞整改台账、《红蓝对抗复盘报告》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B7DD8"/>
                </a:solidFill>
                <a:latin typeface="Noto Serif SC"/>
              </a:rPr>
              <a:t>战役四：开发测试安全基线提升（D4）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制度框架与流程已具备，核心问题是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安全基线质量标尺系统性偏低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——SAST/DAST以默认规则运行、以"无高危即通过"为标准；以DevSecOps成熟度提升为中期重点突破目标。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2027重点突破：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信息科技部·开发测试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SAST/DAST扫描规则深化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：针对主要系统类型细化规则集，将中危以上漏洞纳入强制整改范围；目标：闭环整改率≥90%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SDLC安全门禁落实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：将"评审通过"设为进入下一阶段的前置条件，强化评审记录归档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测试环境数据脱敏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：存量清零，增量自动化；核心目标：真实数据清零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DevSecOps流水线推进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：2027重点突破，覆盖主要项目≥60%；SAST/SCA/密钥检测嵌入强制节点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SCA软件成分分析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：对主要存量系统开展组件依赖扫描，维护高危组件风险台账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2030年缺陷逃逸率≤0.5%，AI辅助测试规模化，安全开发能力行业领先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战役五·IT运行 &amp; 战役六·业务连续性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2BA8A8"/>
                </a:solidFill>
                <a:latin typeface="Noto Serif SC"/>
              </a:rPr>
              <a:t>战役五：IT运行管理深化（D5）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在ITMIS平台已运行基础上，聚焦提升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平台内数据质量与流程执行深度</a:t>
            </a:r>
            <a:r>
              <a:rPr sz="975" b="0">
                <a:solidFill>
                  <a:srgbClr val="8A9BB5"/>
                </a:solidFill>
                <a:latin typeface="Noto Sans SC"/>
              </a:rPr>
              <a:t>；覆盖事件、问题、CMDB、容量、监控告警、批处理与日志六个子方向，以连续完整的执行记录为迎检基础（证据链不可中断）。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信息科技部·系统运行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事故管理与RCA质量提升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：细化RCA报告模板，月度统计按时完成率（5工作日内100%完成）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问题管理独立运作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：在ITMIS中单独配置问题工单类型，规定触发条件（同类事件重复≥2次），强化根因消除全流程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CMDB自动发现与准确性提升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：逐类型推进自动发现改造；2026目标：准确率≥95%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监控告警质量优化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：虚假告警率≤5%；有效告警处置率持续提升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批处理监控与日志管理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：全量批处理监控；核心系统日志≥1年留存合规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关键红线：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P1/P2 RCA完成率100%；事件台账积累≥6个月；批处理监控覆盖率100%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AAD6B"/>
                </a:solidFill>
                <a:latin typeface="Noto Serif SC"/>
              </a:rPr>
              <a:t>战役六：业务连续性与灾备实战（D6）★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以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演练质量的跃升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为核心——从"重大灾难全切换"的脚本式演练，升级为针对数据库单点、核心中间件崩溃、网络分区、关键外部接口断连等真实高发场景的</a:t>
            </a:r>
            <a:r>
              <a:rPr sz="975" b="1">
                <a:solidFill>
                  <a:srgbClr val="E8CC6A"/>
                </a:solidFill>
                <a:latin typeface="Noto Sans SC"/>
              </a:rPr>
              <a:t>场景化重大故障应急</a:t>
            </a:r>
            <a:r>
              <a:rPr sz="975" b="0">
                <a:solidFill>
                  <a:srgbClr val="8A9BB5"/>
                </a:solidFill>
                <a:latin typeface="Noto Sans SC"/>
              </a:rPr>
              <a:t>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重点突破候选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信息科技部·系统运行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BIA执行与更新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：细化方法论，逐系统明确RTO/RPO目标值，经高管层正式确认；目标：2026年完成全行BIA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场景化演练设计与执行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：基于BIA识别高概率独立故障场景，执行时无预告，演练后48小时内复盘；目标：≥3个独立场景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备份数据可恢复性验证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：每年对全量核心系统执行实际恢复测试（区别于仅检查备份任务成功状态）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审计部独立鉴证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：审计部全程现场见证，出具鉴证报告（防止脚本化演练）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外部系统联合演练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：与支付清算、央行等推进首次联合演练；目标：≥1次/年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2030年场景化演练覆盖完整故障谱；BCM体系长效运转成熟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战役七·供应链安全 &amp; 战役八·数据治理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E08A3C"/>
                </a:solidFill>
                <a:latin typeface="Noto Serif SC"/>
              </a:rPr>
              <a:t>战役七：供应链安全与外包管理（D7）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外包基础制度框架成熟，例行维持即可；本战役聚焦</a:t>
            </a:r>
            <a:r>
              <a:rPr sz="975" b="1">
                <a:solidFill>
                  <a:srgbClr val="E8CC6A"/>
                </a:solidFill>
                <a:latin typeface="Noto Sans SC"/>
              </a:rPr>
              <a:t>供应链安全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——软件供应链（开源组件漏洞、第三方库依赖）和服务供应链（关键第三方API依赖深度与可替代性）是当前管控能力相对薄弱的真实风险所在（Log4j类事件的高频根源）。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信息科技部·规划/科技资源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第三方软件与服务依赖清单完善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：梳理主要应用系统第三方依赖（商业软件+开源库+关键API），记录版本与已知漏洞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供应商安全基线评估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：在年度供应商复评中强制纳入安全专项，对高风险发现要求整改承诺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关键服务依赖可替代性分析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：识别高风险依赖，制定高优先级替换或双活计划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SBOM软件物料清单推进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：2028年建立覆盖核心系统的SBOM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外包基础管理例行维持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：离场权限48h内回收率100%；代码安全审查100%覆盖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典型交付物：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《第三方软件与服务依赖清单》、《供应链风险评估报告》（年度）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2B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2BA8A8"/>
                </a:solidFill>
                <a:latin typeface="Noto Serif SC"/>
              </a:rPr>
              <a:t>战役八：数据治理与隐私保护（数据治理）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08A3C"/>
                </a:solidFill>
                <a:latin typeface="Noto Sans SC"/>
              </a:rPr>
              <a:t>待确认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2029突破：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重点突破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数据管理部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数据资产目录建立与维护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：制定数据资产盘点方法论，推动各部门确认本部门数据资产清单；目标：覆盖率≥95%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数据分类分级精细化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：对照金规〔2024〕24号，完成精细化重新标注，核查实际数据处理行为一致性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数据质量月度检核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：建立检核规则集（完整性、准确性、一致性、及时性），每月出具报告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个人信息保护合规审计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：梳理个人信息处理场景清单，逐项评估合规差距，制定整改计划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数据血缘追踪建设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：2026年启动建设，2027年完善，实现全链路可追溯</a:t>
            </a:r>
          </a:p>
          <a:p>
            <a:pPr>
              <a:lnSpc>
                <a:spcPct val="165000"/>
              </a:lnSpc>
              <a:spcAft>
                <a:spcPts val="0"/>
              </a:spcAft>
            </a:pPr>
            <a:r>
              <a:rPr sz="862" b="1">
                <a:solidFill>
                  <a:srgbClr val="E8CC6A"/>
                </a:solidFill>
                <a:latin typeface="Noto Sans SC"/>
              </a:rPr>
              <a:t>五年目标：</a:t>
            </a:r>
            <a:r>
              <a:rPr sz="862" b="0">
                <a:solidFill>
                  <a:srgbClr val="8A9BB5"/>
                </a:solidFill>
                <a:latin typeface="Noto Sans SC"/>
              </a:rPr>
              <a:t>2030年数据治理成熟度成政策性银行行业参考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第五章 · 十大战役框架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战役九·新技术AI &amp; 战役十·人才文化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5371965" cy="2857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31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B7DD8"/>
                </a:solidFill>
                <a:latin typeface="Noto Serif SC"/>
              </a:rPr>
              <a:t>战役九：新技术应用与AI安全（前瞻防范）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31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2030：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6CE89A"/>
                </a:solidFill>
                <a:latin typeface="Noto Sans SC"/>
              </a:rPr>
              <a:t>输出行业参考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信息科技部·风险管理-制度处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新技术风险评估框架落地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：制定适用于AI/云的统一评估框架（技术成熟度、监管合规、安全风险、数据合规、应急退出五维度），将评估审批作为上线强制前置步骤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AI模型全生命周期管理制度落地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：起草AI模型管理制度（准入→上线→运行监控→版本变更→退出处置），维护在用模型台账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AI模型安全测试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：对高风险AI模型开展对抗样本、数据投毒、模型提取攻击等安全测试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算法备案准备与可解释性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：为每个在用算法模型准备功能描述和决策逻辑说明文档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云应用安全评估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：细化标准（数据驻留、访问控制、加密、审计日志、退出权保障），引入前强制执行评估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5162420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342" y="1181070"/>
            <a:ext cx="5371965" cy="28574"/>
          </a:xfrm>
          <a:prstGeom prst="rect">
            <a:avLst/>
          </a:prstGeom>
          <a:solidFill>
            <a:srgbClr val="3AA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5887" y="1390615"/>
            <a:ext cx="4952876" cy="2857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3AAD6B"/>
                </a:solidFill>
                <a:latin typeface="Noto Serif SC"/>
              </a:rPr>
              <a:t>战役十：人才队伍与文化培育（跨维度支撑）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5887" y="1695407"/>
            <a:ext cx="4952876" cy="45337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战役定位：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真正的挑战在于</a:t>
            </a:r>
            <a:r>
              <a:rPr sz="975" b="1">
                <a:solidFill>
                  <a:srgbClr val="E8CC6A"/>
                </a:solidFill>
                <a:latin typeface="Noto Sans SC"/>
              </a:rPr>
              <a:t>激活效能与建立风险文化</a:t>
            </a:r>
            <a:r>
              <a:rPr sz="975" b="0">
                <a:solidFill>
                  <a:srgbClr val="8A9BB5"/>
                </a:solidFill>
                <a:latin typeface="Noto Sans SC"/>
              </a:rPr>
              <a:t>——将科技风险意识从培训覆盖推向行为改变，以钓鱼演练点击率、年度培训完成率、安全事件重复发生率等可量化指标衡量文化成效。</a:t>
            </a:r>
          </a:p>
          <a:p>
            <a:pPr>
              <a:lnSpc>
                <a:spcPct val="165000"/>
              </a:lnSpc>
              <a:spcAft>
                <a:spcPts val="600"/>
              </a:spcAft>
            </a:pPr>
            <a:r>
              <a:rPr sz="975" b="1">
                <a:solidFill>
                  <a:srgbClr val="E8CC6A"/>
                </a:solidFill>
                <a:latin typeface="Noto Sans SC"/>
              </a:rPr>
              <a:t>2026强度：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3B7DD8"/>
                </a:solidFill>
                <a:latin typeface="Noto Sans SC"/>
              </a:rPr>
              <a:t>底线保障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975" b="1">
                <a:solidFill>
                  <a:srgbClr val="E8CC6A"/>
                </a:solidFill>
                <a:latin typeface="Noto Sans SC"/>
              </a:rPr>
              <a:t>牵头：</a:t>
            </a:r>
            <a:r>
              <a:rPr sz="975" b="0">
                <a:solidFill>
                  <a:srgbClr val="8A9BB5"/>
                </a:solidFill>
                <a:latin typeface="Noto Sans SC"/>
              </a:rPr>
              <a:t>信息科技部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全员信息安全意识培训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：统一培训内容与当年重点风险领域匹配，完成率纳入绩效考核，培训后开展知识测评；目标：完成率≥95%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钓鱼演练机制落地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：每年至少2次、无预告，统计点击率（分部门/分岗位），对点击人员强制针对培训；目标：点击率逐次下降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关键岗位能力培养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：为信息安全/IT审计/数据安全等关键岗位细化能力画像，制定内训+外训+实战路径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科技风险KPI落地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：与风险管理部联合设计绩效指标体系，明确权重（信息科技部30%由风险管理部打分）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双向挂职落实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：2027年落实首批风险←→科技双向挂职（≥2人）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第六章 · 2026年作战计划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夯实基础·攻坚评级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11124921" cy="628634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386" y="1181070"/>
            <a:ext cx="28574" cy="62863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881" y="1257268"/>
            <a:ext cx="10782030" cy="4762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37" b="1">
                <a:solidFill>
                  <a:srgbClr val="E8CC6A"/>
                </a:solidFill>
                <a:latin typeface="Noto Sans SC"/>
              </a:rPr>
              <a:t>年度主题：</a:t>
            </a:r>
            <a:r>
              <a:rPr sz="937" b="0">
                <a:solidFill>
                  <a:srgbClr val="F0ECE4"/>
                </a:solidFill>
                <a:latin typeface="Noto Sans SC"/>
              </a:rPr>
              <a:t>突破底线思维，激活现有能力；补齐唯一真正空白；以重点突破驱动评级跨档。  
            </a:t>
            </a:r>
            <a:r>
              <a:rPr sz="937" b="1">
                <a:solidFill>
                  <a:srgbClr val="E8CC6A"/>
                </a:solidFill>
                <a:latin typeface="Noto Sans SC"/>
              </a:rPr>
              <a:t>重点突破候选：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战役二（风险指标体系质量）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FF8A8A"/>
                </a:solidFill>
                <a:latin typeface="Noto Sans SC"/>
              </a:rPr>
              <a:t>战役三（安全产品能力激活）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  <a:r>
              <a:rPr sz="675" b="0">
                <a:solidFill>
                  <a:srgbClr val="8A9BB5"/>
                </a:solidFill>
                <a:latin typeface="Noto Sans SC"/>
              </a:rPr>
              <a:t>[</a:t>
            </a:r>
            <a:r>
              <a:rPr sz="675" b="1">
                <a:solidFill>
                  <a:srgbClr val="E8CC6A"/>
                </a:solidFill>
                <a:latin typeface="Noto Sans SC"/>
              </a:rPr>
              <a:t>战役六（场景化应急演练）</a:t>
            </a:r>
            <a:r>
              <a:rPr sz="675" b="0">
                <a:solidFill>
                  <a:srgbClr val="8A9BB5"/>
                </a:solidFill>
                <a:latin typeface="Noto Sans SC"/>
              </a:rPr>
              <a:t>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1981150"/>
            <a:ext cx="11124921" cy="1828754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881" y="2114497"/>
            <a:ext cx="10743931" cy="209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Q1—Q4 实施路线图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" y="2438339"/>
            <a:ext cx="2495487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Q1 · 机制启动·基础先行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211" y="2438339"/>
            <a:ext cx="2495487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Q2 · 全力攻坚·成果积累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540" y="2438339"/>
            <a:ext cx="2495487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Q3 · 深度攻坚·核心验收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1870" y="2438339"/>
            <a:ext cx="2285942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Q4 · 固化迎检·证据冲刺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3962300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00" b="0">
                <a:solidFill>
                  <a:srgbClr val="8A9BB5"/>
                </a:solidFill>
                <a:latin typeface="Noto Sans SC"/>
              </a:rPr>
              <a:t>底线保障战役（战役一、四、五、七、九、十）年度关键红线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386" y="4152796"/>
          <a:ext cx="10896325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881"/>
                <a:gridCol w="2857428"/>
                <a:gridCol w="4457588"/>
                <a:gridCol w="2857428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战役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2026年底线目标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关键红线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关键交付物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基础治理达标，以迎检通过为目标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CIO履职记录完整；开发测试人员零生产权限；委员会≥4次/年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《岗位分离矩阵》、IT委员会纪要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安全基线质量标尺提升，检测规则超越默认配置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SAST/DAST闭环整改率≥90%；核心系统上线前安全测试100%；测试数据清零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《安全基线检测规则定制化报告》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ITMIS六子方向全面提升，事件台账积累≥6个月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P1/P2 RCA完成率100%（5工作日内）；CMDB准确率≥95%；批处理监控覆盖100%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事件工单台账（月度积累）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供应链依赖清单首建；外包基础管理例行达标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离场权限48h内回收率100%；代码安全审查100%；第三方依赖清单完成初版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《第三方依赖清单》、外包管理台账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第七至十章 · 年度作战计划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2027—2030 年度重点突破演进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386" y="1181070"/>
          <a:ext cx="10915376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8634"/>
                <a:gridCol w="1238219"/>
                <a:gridCol w="2952676"/>
                <a:gridCol w="1904952"/>
                <a:gridCol w="4190895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年度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年度主题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重点突破方向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重点突破战役目标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各战役关键目标（简表）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2027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深化体系·重点成型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战役四（DevSecOps安全左移成效可量化）：DevSecOps覆盖主要项目≥60%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上线后缺陷逃逸率较2026基准下降≥30%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2028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争创优良·全面成熟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战役二（内部模拟检查里程碑）：内部监管模拟检查机制建立并完成首次全面运作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整改完成率≥95%；以可核验数据支撑争创优良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2029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数字赋能·智能管控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战役二（监管数据实时自动采集接口上线）：系统直连监管机构，力争政策性银行同业领先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为2030年量化预测模型建设打好数据基础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2030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持续优化·长效治理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战役二（科技风险量化预测模型成熟验证）：基于4年数据积累，从"描述已发生风险"跨越到"预测将要发生风险"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五年"播种—积累—收获"完整闭环叙事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战役三重复安全事件率≤5%；战役四缺陷逃逸率≤0.5%；战役五核心系统可用率≥99.99%；战役九AI治理框架输出行业参考；战役十人才与文化体系达行业先进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第十一章 · 分工协作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三角联席机制与问题整改销号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91457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信息科技部内部专业板块分工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3881" y="1695407"/>
          <a:ext cx="4990974" cy="1428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4952"/>
                <a:gridCol w="3086022"/>
              </a:tblGrid>
              <a:tr h="2857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8CC6A"/>
                          </a:solidFill>
                          <a:latin typeface="Noto Sans SC"/>
                        </a:rPr>
                        <a:t>风险管理-制度处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战役一、二、九：风险识别评估、KRI监测、监管报送合规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857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8CC6A"/>
                          </a:solidFill>
                          <a:latin typeface="Noto Sans SC"/>
                        </a:rPr>
                        <a:t>网络安全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战役三：网络安全体系、数据安全、漏洞管理、安全运营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857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8CC6A"/>
                          </a:solidFill>
                          <a:latin typeface="Noto Sans SC"/>
                        </a:rPr>
                        <a:t>开发测试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战役四：软件开发规范、测试质量管控、DevSecOps体系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857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8CC6A"/>
                          </a:solidFill>
                          <a:latin typeface="Noto Sans SC"/>
                        </a:rPr>
                        <a:t>系统运行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战役五、六：数据中心运营、生产调度、变更管理、容量、灾备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857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E8CC6A"/>
                          </a:solidFill>
                          <a:latin typeface="Noto Sans SC"/>
                        </a:rPr>
                        <a:t>规划/科技资源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战役七：IT规划管理、供应商与外包管理、科技预算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86342" y="1181070"/>
            <a:ext cx="5371965" cy="291457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838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风险—科技—数据 三角联席工作制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6838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838" y="1695407"/>
            <a:ext cx="4990975" cy="1190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定位：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核心日常执行机制。三方分工——风险管理部定标准、信息科技部落执行、数据管理部保质量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事前：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三方会签方可立项（数据管理部定义标准、信息科技部制定技术设计、风险管理部审核合规性）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事中：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信息科技部保稳定，网络安全负责威胁监测，风险管理部实时监测KRI预警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事后：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审计部独立后评价，结论反馈至下一轮三方会签改进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节奏：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双周例会（三方碰头）；月度联合风险报告（上报科委会备案）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" y="4267093"/>
            <a:ext cx="11124921" cy="2114497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881" y="4457588"/>
            <a:ext cx="10743931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「问题整改销号」闭环机制 + IT审计独立性保障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881" y="4686182"/>
            <a:ext cx="10743931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881" y="4838579"/>
            <a:ext cx="5333866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90000"/>
              </a:lnSpc>
              <a:spcAft>
                <a:spcPts val="400"/>
              </a:spcAft>
            </a:pPr>
            <a:r>
              <a:rPr sz="975" b="1">
                <a:solidFill>
                  <a:srgbClr val="D94F4F"/>
                </a:solidFill>
                <a:latin typeface="Noto Sans SC"/>
              </a:rPr>
              <a:t>发起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风险管理-制度处生成《问题整改清单》</a:t>
            </a:r>
            <a:r>
              <a:rPr sz="975" b="0">
                <a:solidFill>
                  <a:srgbClr val="F0ECE4"/>
                </a:solidFill>
                <a:latin typeface="Noto Sans SC"/>
              </a:rPr>
              <a:t>
</a:t>
            </a:r>
            <a:r>
              <a:rPr sz="975" b="1">
                <a:solidFill>
                  <a:srgbClr val="E08A3C"/>
                </a:solidFill>
                <a:latin typeface="Noto Sans SC"/>
              </a:rPr>
              <a:t>认领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3个工作日内制定整改措施和SLA</a:t>
            </a:r>
            <a:r>
              <a:rPr sz="975" b="0">
                <a:solidFill>
                  <a:srgbClr val="F0ECE4"/>
                </a:solidFill>
                <a:latin typeface="Noto Sans SC"/>
              </a:rPr>
              <a:t>
</a:t>
            </a:r>
            <a:r>
              <a:rPr sz="975" b="1">
                <a:solidFill>
                  <a:srgbClr val="3B7DD8"/>
                </a:solidFill>
                <a:latin typeface="Noto Sans SC"/>
              </a:rPr>
              <a:t>验证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审计部非现场+现场穿透测试</a:t>
            </a:r>
            <a:r>
              <a:rPr sz="975" b="0">
                <a:solidFill>
                  <a:srgbClr val="F0ECE4"/>
                </a:solidFill>
                <a:latin typeface="Noto Sans SC"/>
              </a:rPr>
              <a:t>
</a:t>
            </a:r>
            <a:r>
              <a:rPr sz="975" b="1">
                <a:solidFill>
                  <a:srgbClr val="3AAD6B"/>
                </a:solidFill>
                <a:latin typeface="Noto Sans SC"/>
              </a:rPr>
              <a:t>销号</a:t>
            </a:r>
            <a:r>
              <a:rPr sz="975" b="0">
                <a:solidFill>
                  <a:srgbClr val="F0ECE4"/>
                </a:solidFill>
                <a:latin typeface="Noto Sans SC"/>
              </a:rPr>
              <a:t> 仅审计部出具"验证通过"意见后方可销号
  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4838579"/>
            <a:ext cx="4990975" cy="6857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审计部独立性：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不参与科委会决策表决；不参与三角联席事前会签；不参与整改标准制定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审计工作体系：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每年Q1制定年度审计计划；三年滚动IT审计计划；全年≥3次专项审计</a:t>
            </a:r>
          </a:p>
          <a:p>
            <a:pPr lvl="0" marL="228600" indent="-171450">
              <a:lnSpc>
                <a:spcPct val="165000"/>
              </a:lnSpc>
              <a:spcAft>
                <a:spcPts val="5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红线：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未通过审计验证严禁销号；逾期自动升级至科委会督办，与绩效考核挂钩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04792"/>
            <a:ext cx="11124921" cy="571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 b="1">
                <a:solidFill>
                  <a:srgbClr val="C9A84C"/>
                </a:solidFill>
                <a:latin typeface="Noto Sans SC"/>
              </a:rPr>
              <a:t>第十二章 · 保障机制</a:t>
            </a:r>
          </a:p>
          <a:p>
            <a:pPr>
              <a:spcBef>
                <a:spcPts val="400"/>
              </a:spcBef>
            </a:pPr>
            <a:r>
              <a:rPr sz="2250" b="1">
                <a:solidFill>
                  <a:srgbClr val="F0ECE4"/>
                </a:solidFill>
                <a:latin typeface="Noto Serif SC"/>
              </a:rPr>
              <a:t>考核激励与应急调整机制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386" y="1181070"/>
            <a:ext cx="5371965" cy="264788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考核与激励机制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881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1695407"/>
            <a:ext cx="4990975" cy="7143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双向打分制：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信息科技部绩效30%由风险管理部打分；风险管理部绩效20%由信息科技部打分；审计部由审计委员会独立评价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红线问责：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因部门推诿导致评级下降或重大风险事件的，部门负责人年度绩效一票否决；虚假整改直接移交纪检监察部门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激励机制：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对战役攻坚成效显著、按时完成任务的板块和个人，给予绩效加分和评优表彰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1181070"/>
            <a:ext cx="5371965" cy="2647883"/>
          </a:xfrm>
          <a:prstGeom prst="roundRect">
            <a:avLst>
              <a:gd name="adj" fmla="val 6000"/>
            </a:avLst>
          </a:prstGeom>
          <a:solidFill>
            <a:srgbClr val="132240"/>
          </a:solidFill>
          <a:ln w="9525">
            <a:solidFill>
              <a:srgbClr val="1E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838" y="1371565"/>
            <a:ext cx="4990975" cy="2476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50" b="1">
                <a:solidFill>
                  <a:srgbClr val="C9A84C"/>
                </a:solidFill>
                <a:latin typeface="Noto Serif SC"/>
              </a:rPr>
              <a:t>资源保障原则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6838" y="1600159"/>
            <a:ext cx="4990975" cy="9524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838" y="1695407"/>
            <a:ext cx="4990975" cy="952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刚性优先保障：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灾备建设、安全运营、监管合规相关投入不得以预算压缩为由延期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年度滚动预算：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依据当年评估结论动态调整投入重点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四类投入：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工具平台采购与建设 / 系统改造升级 / 外部咨询与审计 / 人员培训与能力建设</a:t>
            </a:r>
          </a:p>
          <a:p>
            <a:pPr lvl="0" marL="228600" indent="-171450">
              <a:lnSpc>
                <a:spcPct val="165000"/>
              </a:lnSpc>
              <a:spcAft>
                <a:spcPts val="600"/>
              </a:spcAft>
              <a:buClr>
                <a:srgbClr val="C9A84C"/>
              </a:buClr>
              <a:buSzPts val="1050"/>
              <a:buFont typeface="Arial" charset="0"/>
              <a:buChar char="•"/>
            </a:pPr>
            <a:r>
              <a:rPr sz="1050" b="1">
                <a:solidFill>
                  <a:srgbClr val="E8CC6A"/>
                </a:solidFill>
                <a:latin typeface="Noto Sans SC"/>
              </a:rPr>
              <a:t>人力保障：</a:t>
            </a:r>
            <a:r>
              <a:rPr sz="1050" b="0">
                <a:solidFill>
                  <a:srgbClr val="F0ECE4"/>
                </a:solidFill>
                <a:latin typeface="Noto Sans SC"/>
              </a:rPr>
              <a:t>关键岗位招聘优先落实；跨部门人力借调由科委会统一审批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86" y="3981350"/>
            <a:ext cx="11124921" cy="190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</a:pPr>
            <a:r>
              <a:rPr sz="900" b="0">
                <a:solidFill>
                  <a:srgbClr val="8A9BB5"/>
                </a:solidFill>
                <a:latin typeface="Noto Sans SC"/>
              </a:rPr>
              <a:t>应急调整机制 — 触发场景与响应方案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386" y="4171845"/>
          <a:ext cx="10953475" cy="1371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695"/>
                <a:gridCol w="4857628"/>
                <a:gridCol w="3905152"/>
              </a:tblGrid>
              <a:tr h="304792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触发场景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应急响应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862" b="1">
                          <a:solidFill>
                            <a:srgbClr val="C9A84C"/>
                          </a:solidFill>
                          <a:latin typeface="Noto Sans SC"/>
                        </a:rPr>
                        <a:t>资源调整</a:t>
                      </a:r>
                    </a:p>
                  </a:txBody>
                  <a:tcPr anchor="ctr" marL="101600" marR="76200" marT="76200" marB="76200">
                    <a:solidFill>
                      <a:srgbClr val="1322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9A84C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重大信息安全事件（数据泄露/勒索）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24小时内召开紧急会议，暂停非核心战役，资源集中处置与根因整改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战役九、十降级为维持性任务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监管专项检查/突击检查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48小时内成立专项应对小组，对检查涉及维度优先完善证据链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根据检查范围动态调整战役优先级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关键供应商重大事故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启动外包退出应急预案，评估对灾备和运行的影响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战役七升级为最高优先级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  <a:tr h="2666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监管评级标准重大调整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一周内完成新标准与十大战役映射分析，调整覆盖方案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937" b="0">
                          <a:solidFill>
                            <a:srgbClr val="F0ECE4"/>
                          </a:solidFill>
                          <a:latin typeface="Noto Sans SC"/>
                        </a:rPr>
                        <a:t>视影响范围新增或调整战役内容</a:t>
                      </a:r>
                    </a:p>
                  </a:txBody>
                  <a:tcPr anchor="ctr" marL="101600" marR="76200" marT="63500" marB="63500">
                    <a:solidFill>
                      <a:srgbClr val="0A162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A203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386" y="6057748"/>
            <a:ext cx="11124921" cy="380990"/>
          </a:xfrm>
          <a:prstGeom prst="roundRect">
            <a:avLst>
              <a:gd name="adj" fmla="val 4000"/>
            </a:avLst>
          </a:prstGeom>
          <a:solidFill>
            <a:srgbClr val="111C2D"/>
          </a:solidFill>
          <a:ln w="3810">
            <a:solidFill>
              <a:srgbClr val="18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386" y="6057748"/>
            <a:ext cx="28574" cy="38099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81" y="6133946"/>
            <a:ext cx="1078203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5000"/>
              </a:lnSpc>
              <a:spcAft>
                <a:spcPts val="400"/>
              </a:spcAft>
            </a:pPr>
            <a:r>
              <a:rPr sz="975" b="1">
                <a:solidFill>
                  <a:srgbClr val="D94F4F"/>
                </a:solidFill>
                <a:latin typeface="Noto Sans SC"/>
              </a:rPr>
              <a:t>保底四战役（任何冲击下不得中断）：</a:t>
            </a:r>
            <a:r>
              <a:rPr sz="975" b="0">
                <a:solidFill>
                  <a:srgbClr val="F0ECE4"/>
                </a:solidFill>
                <a:latin typeface="Noto Sans SC"/>
              </a:rPr>
              <a:t>战役三（信息安全）· 战役四（开发测试）· 战役五（运行管理）· 战役六（业务连续性）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386" y="6553036"/>
            <a:ext cx="10477238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25" b="0">
                <a:solidFill>
                  <a:srgbClr val="8A9BB5"/>
                </a:solidFill>
                <a:latin typeface="Noto Sans SC"/>
              </a:rPr>
              <a:t>银行信息科技风险监管评级提升协同作战计划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8" y="6553036"/>
            <a:ext cx="1181070" cy="2285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75" b="1">
                <a:solidFill>
                  <a:srgbClr val="C9A84C"/>
                </a:solidFill>
                <a:latin typeface="Noto Serif S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1885" y="2047823"/>
            <a:ext cx="3047923" cy="323841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75" b="0">
                <a:solidFill>
                  <a:srgbClr val="C9A84C"/>
                </a:solidFill>
                <a:latin typeface="Noto Sans SC"/>
              </a:rPr>
              <a:t>2026—2030 协同作战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04" y="2571685"/>
            <a:ext cx="8572285" cy="1238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35000"/>
              </a:lnSpc>
            </a:pPr>
            <a:r>
              <a:rPr sz="3300" b="1">
                <a:solidFill>
                  <a:srgbClr val="F0ECE4"/>
                </a:solidFill>
                <a:latin typeface="Noto Serif SC"/>
              </a:rPr>
              <a:t>从</a:t>
            </a:r>
            <a:r>
              <a:rPr sz="3300" b="1">
                <a:solidFill>
                  <a:srgbClr val="C9A84C"/>
                </a:solidFill>
                <a:latin typeface="Noto Serif SC"/>
              </a:rPr>
              <a:t>底线合规</a:t>
            </a:r>
            <a:r>
              <a:rPr sz="3300" b="1">
                <a:solidFill>
                  <a:srgbClr val="F0ECE4"/>
                </a:solidFill>
                <a:latin typeface="Noto Serif SC"/>
              </a:rPr>
              <a:t>到高质量治理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4857" y="3952776"/>
            <a:ext cx="761980" cy="190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04" y="4190895"/>
            <a:ext cx="8572285" cy="38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0">
                <a:solidFill>
                  <a:srgbClr val="8A9BB5"/>
                </a:solidFill>
                <a:latin typeface="Noto Sans SC"/>
              </a:rPr>
              <a:t>十大战役 · 五年演进 · 优良评级稳定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