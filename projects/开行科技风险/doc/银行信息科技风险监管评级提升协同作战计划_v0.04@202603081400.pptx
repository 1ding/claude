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1885" y="2047823"/>
            <a:ext cx="3047923" cy="323841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75" b="0">
                <a:solidFill>
                  <a:srgbClr val="C9A84C"/>
                </a:solidFill>
                <a:latin typeface="Noto Sans SC"/>
              </a:rPr>
              <a:t>五年战略规划 2026—2030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9704" y="2571685"/>
            <a:ext cx="8572285" cy="123821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35000"/>
              </a:lnSpc>
            </a:pPr>
            <a:r>
              <a:rPr sz="3300" b="1">
                <a:solidFill>
                  <a:srgbClr val="F0ECE4"/>
                </a:solidFill>
                <a:latin typeface="Noto Serif SC"/>
              </a:rPr>
              <a:t>银行信息科技风险</a:t>
            </a:r>
          </a:p>
          <a:p>
            <a:pPr algn="ctr">
              <a:lnSpc>
                <a:spcPct val="135000"/>
              </a:lnSpc>
            </a:pPr>
            <a:r>
              <a:rPr sz="3300" b="1">
                <a:solidFill>
                  <a:srgbClr val="C9A84C"/>
                </a:solidFill>
                <a:latin typeface="Noto Serif SC"/>
              </a:rPr>
              <a:t>监管评级提升</a:t>
            </a:r>
            <a:r>
              <a:rPr sz="3300" b="1">
                <a:solidFill>
                  <a:srgbClr val="F0ECE4"/>
                </a:solidFill>
                <a:latin typeface="Noto Serif SC"/>
              </a:rPr>
              <a:t>协同作战计划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4857" y="3952776"/>
            <a:ext cx="761980" cy="1904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9704" y="4190895"/>
            <a:ext cx="8572285" cy="380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650" b="0">
                <a:solidFill>
                  <a:srgbClr val="8A9BB5"/>
                </a:solidFill>
                <a:latin typeface="Noto Sans SC"/>
              </a:rPr>
              <a:t>超越底线 · 质量优先 · 协同作战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04" y="4667133"/>
            <a:ext cx="8572285" cy="380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75" b="0">
                <a:solidFill>
                  <a:srgbClr val="8A9BB5"/>
                </a:solidFill>
                <a:latin typeface="Noto Sans SC"/>
              </a:rPr>
              <a:t>v0.04 | 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CONTENTS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目 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2571685" cy="761980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832" y="1295367"/>
            <a:ext cx="2228794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C9A84C"/>
                </a:solidFill>
                <a:latin typeface="Noto Serif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32" y="1523961"/>
            <a:ext cx="2228794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75" b="0">
                <a:solidFill>
                  <a:srgbClr val="F0ECE4"/>
                </a:solidFill>
                <a:latin typeface="Noto Sans SC"/>
              </a:rPr>
              <a:t>综述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5567" y="1181070"/>
            <a:ext cx="2571685" cy="761980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67013" y="1295367"/>
            <a:ext cx="2228794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C9A84C"/>
                </a:solidFill>
                <a:latin typeface="Noto Serif S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67013" y="1523961"/>
            <a:ext cx="2228794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75" b="0">
                <a:solidFill>
                  <a:srgbClr val="F0ECE4"/>
                </a:solidFill>
                <a:latin typeface="Noto Sans SC"/>
              </a:rPr>
              <a:t>现状诊断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7748" y="1181070"/>
            <a:ext cx="2571685" cy="761980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29194" y="1295367"/>
            <a:ext cx="2228794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C9A84C"/>
                </a:solidFill>
                <a:latin typeface="Noto Serif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9194" y="1523961"/>
            <a:ext cx="2228794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75" b="0">
                <a:solidFill>
                  <a:srgbClr val="F0ECE4"/>
                </a:solidFill>
                <a:latin typeface="Noto Sans SC"/>
              </a:rPr>
              <a:t>监管动态与趋势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19929" y="1181070"/>
            <a:ext cx="2838379" cy="761980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91375" y="1295367"/>
            <a:ext cx="2495487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C9A84C"/>
                </a:solidFill>
                <a:latin typeface="Noto Serif SC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375" y="1523961"/>
            <a:ext cx="2495487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75" b="0">
                <a:solidFill>
                  <a:srgbClr val="F0ECE4"/>
                </a:solidFill>
                <a:latin typeface="Noto Sans SC"/>
              </a:rPr>
              <a:t>方针原则与战略路径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386" y="2095447"/>
            <a:ext cx="2571685" cy="761980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832" y="2209744"/>
            <a:ext cx="2228794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C9A84C"/>
                </a:solidFill>
                <a:latin typeface="Noto Serif SC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32" y="2438339"/>
            <a:ext cx="2228794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75" b="0">
                <a:solidFill>
                  <a:srgbClr val="F0ECE4"/>
                </a:solidFill>
                <a:latin typeface="Noto Sans SC"/>
              </a:rPr>
              <a:t>十大战役框架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5567" y="2095447"/>
            <a:ext cx="2571685" cy="761980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67013" y="2209744"/>
            <a:ext cx="2228794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C9A84C"/>
                </a:solidFill>
                <a:latin typeface="Noto Serif SC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013" y="2438339"/>
            <a:ext cx="2228794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75" b="0">
                <a:solidFill>
                  <a:srgbClr val="F0ECE4"/>
                </a:solidFill>
                <a:latin typeface="Noto Sans SC"/>
              </a:rPr>
              <a:t>2026年作战计划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7748" y="2095447"/>
            <a:ext cx="2571685" cy="761980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9194" y="2209744"/>
            <a:ext cx="2228794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C9A84C"/>
                </a:solidFill>
                <a:latin typeface="Noto Serif SC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9194" y="2438339"/>
            <a:ext cx="2228794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75" b="0">
                <a:solidFill>
                  <a:srgbClr val="F0ECE4"/>
                </a:solidFill>
                <a:latin typeface="Noto Sans SC"/>
              </a:rPr>
              <a:t>2027年作战计划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19929" y="2095447"/>
            <a:ext cx="2838379" cy="761980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91375" y="2209744"/>
            <a:ext cx="2495487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C9A84C"/>
                </a:solidFill>
                <a:latin typeface="Noto Serif SC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1375" y="2438339"/>
            <a:ext cx="2495487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75" b="0">
                <a:solidFill>
                  <a:srgbClr val="F0ECE4"/>
                </a:solidFill>
                <a:latin typeface="Noto Sans SC"/>
              </a:rPr>
              <a:t>2028年作战计划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3386" y="3009824"/>
            <a:ext cx="2571685" cy="761980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832" y="3124121"/>
            <a:ext cx="2228794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C9A84C"/>
                </a:solidFill>
                <a:latin typeface="Noto Serif SC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832" y="3352716"/>
            <a:ext cx="2228794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75" b="0">
                <a:solidFill>
                  <a:srgbClr val="F0ECE4"/>
                </a:solidFill>
                <a:latin typeface="Noto Sans SC"/>
              </a:rPr>
              <a:t>2029年作战计划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5567" y="3009824"/>
            <a:ext cx="2571685" cy="761980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7013" y="3124121"/>
            <a:ext cx="2228794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C9A84C"/>
                </a:solidFill>
                <a:latin typeface="Noto Serif SC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67013" y="3352716"/>
            <a:ext cx="2228794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75" b="0">
                <a:solidFill>
                  <a:srgbClr val="F0ECE4"/>
                </a:solidFill>
                <a:latin typeface="Noto Sans SC"/>
              </a:rPr>
              <a:t>2030年作战计划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57748" y="3009824"/>
            <a:ext cx="2571685" cy="761980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9194" y="3124121"/>
            <a:ext cx="2228794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C9A84C"/>
                </a:solidFill>
                <a:latin typeface="Noto Serif SC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29194" y="3352716"/>
            <a:ext cx="2228794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75" b="0">
                <a:solidFill>
                  <a:srgbClr val="F0ECE4"/>
                </a:solidFill>
                <a:latin typeface="Noto Sans SC"/>
              </a:rPr>
              <a:t>分工协作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19929" y="3009824"/>
            <a:ext cx="2838379" cy="761980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91375" y="3124121"/>
            <a:ext cx="2495487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C9A84C"/>
                </a:solidFill>
                <a:latin typeface="Noto Serif SC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91375" y="3352716"/>
            <a:ext cx="2495487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75" b="0">
                <a:solidFill>
                  <a:srgbClr val="F0ECE4"/>
                </a:solidFill>
                <a:latin typeface="Noto Sans SC"/>
              </a:rPr>
              <a:t>保障机制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3386" y="4076598"/>
            <a:ext cx="11124921" cy="666733"/>
          </a:xfrm>
          <a:prstGeom prst="roundRect">
            <a:avLst>
              <a:gd name="adj" fmla="val 4000"/>
            </a:avLst>
          </a:prstGeom>
          <a:solidFill>
            <a:srgbClr val="111C2D"/>
          </a:solidFill>
          <a:ln w="3810">
            <a:solidFill>
              <a:srgbClr val="18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3386" y="4076598"/>
            <a:ext cx="28574" cy="666733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3881" y="4152796"/>
            <a:ext cx="10782030" cy="51433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1125" b="1">
                <a:solidFill>
                  <a:srgbClr val="E8CC6A"/>
                </a:solidFill>
                <a:latin typeface="Noto Sans SC"/>
              </a:rPr>
              <a:t>核心逻辑</a:t>
            </a:r>
            <a:r>
              <a:rPr sz="1125" b="0">
                <a:solidFill>
                  <a:srgbClr val="F0ECE4"/>
                </a:solidFill>
                <a:latin typeface="Noto Sans SC"/>
              </a:rPr>
              <a:t>：以八大监管评级维度为坐标系，映射十大战役，分五年分层推进——每年聚焦1-2个重点突破方向驱动跨档提升，其余战役底线保障全维度覆盖。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386" y="4990975"/>
            <a:ext cx="11124921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第一章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综述：目标与整体逻辑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33866" cy="2476438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33866" cy="285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14777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2026年核心目标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14777" cy="18478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严格对照《商业银行信息科技风险管理指引》八大评级维度，以"深化落地、提升实质有效性、全面提升质量标尺"为主线，聚焦监管高频扣分项，推动信息科技风险得分显著提升，助力全行综合监管评级升级。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045" y="1181070"/>
            <a:ext cx="5486262" cy="2476438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045" y="1181070"/>
            <a:ext cx="5486262" cy="28574"/>
          </a:xfrm>
          <a:prstGeom prst="rect">
            <a:avLst/>
          </a:prstGeom>
          <a:solidFill>
            <a:srgbClr val="2B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1590" y="1390615"/>
            <a:ext cx="5067173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五年战略目标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590" y="1695407"/>
            <a:ext cx="5067173" cy="18478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至2030年，监管评级稳定保持优良等级，建立可持续运转的科技风险治理长效机制，实现从"底线合规"向"高质量治理"的持续转变，力争达到政策性银行同业先进水平。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386" y="3905152"/>
            <a:ext cx="11124921" cy="1104872"/>
          </a:xfrm>
          <a:prstGeom prst="roundRect">
            <a:avLst>
              <a:gd name="adj" fmla="val 4000"/>
            </a:avLst>
          </a:prstGeom>
          <a:solidFill>
            <a:srgbClr val="111C2D"/>
          </a:solidFill>
          <a:ln w="3810">
            <a:solidFill>
              <a:srgbClr val="18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3386" y="3905152"/>
            <a:ext cx="28574" cy="11048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881" y="3981350"/>
            <a:ext cx="10782030" cy="952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1050" b="1">
                <a:solidFill>
                  <a:srgbClr val="E8CC6A"/>
                </a:solidFill>
                <a:latin typeface="Noto Sans SC"/>
              </a:rPr>
              <a:t>方案整体逻辑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立论起点——核心矛盾不在于"有没有"而在于底线思维过重；基于诊断与趋势分析，确立"超越底线、质量优先"原则；将八大评级维度映射为十大战役，按强度分层推进：每年选定1—2个方向重点突破，其余底线保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386" y="5219569"/>
            <a:ext cx="11124921" cy="1142971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3386" y="5219569"/>
            <a:ext cx="11124921" cy="2857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931" y="5429114"/>
            <a:ext cx="10705832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适用范围与五年演进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31" y="5733906"/>
            <a:ext cx="10705832" cy="51433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覆盖全行各部门、各分支机构。核心聚焦信息科技部、风险管理部、审计部、数据管理部四大关键职能。五年分阶段推进：2026夯实基础 → 2027深化体系 → 2028争创优良 → 2029数字赋能 → 2030持续优化。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第二章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现状诊断：基础能力与核心问题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1181070"/>
            <a:ext cx="5333866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现有基础能力（已达标领域）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386" y="1409664"/>
          <a:ext cx="5333866" cy="1904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6933"/>
                <a:gridCol w="2666933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基础领域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状态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ITIL/ISO 20000 + ITMIS平台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AAD6B"/>
                          </a:solidFill>
                          <a:latin typeface="Noto Sans SC"/>
                        </a:rPr>
                        <a:t>已认证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ISMS/ISO 27001 安全管理体系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AAD6B"/>
                          </a:solidFill>
                          <a:latin typeface="Noto Sans SC"/>
                        </a:rPr>
                        <a:t>已认证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等保2.0测评 / 密评（核心系统）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AAD6B"/>
                          </a:solidFill>
                          <a:latin typeface="Noto Sans SC"/>
                        </a:rPr>
                        <a:t>已通过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SOC/态势感知/EDR/DLP/PAM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AAD6B"/>
                          </a:solidFill>
                          <a:latin typeface="Noto Sans SC"/>
                        </a:rPr>
                        <a:t>已部署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容灾中心 / CMMi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AAD6B"/>
                          </a:solidFill>
                          <a:latin typeface="Noto Sans SC"/>
                        </a:rPr>
                        <a:t>已部署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核心制度体系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AAD6B"/>
                          </a:solidFill>
                          <a:latin typeface="Noto Sans SC"/>
                        </a:rPr>
                        <a:t>已建立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72045" y="1181070"/>
            <a:ext cx="5486262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核心问题诊断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045" y="1409664"/>
            <a:ext cx="5486262" cy="1523961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045" y="1409664"/>
            <a:ext cx="5486262" cy="28574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1590" y="1619209"/>
            <a:ext cx="5067173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问题一：底线思维过重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590" y="1924001"/>
            <a:ext cx="5067173" cy="89532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基础框架解决了"有没有"，但执行深度普遍停在监管最低要求——等保/密评重在通过而非整改落地；安全产品核心功能大量闲置；各领域合规水平接近底线。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045" y="3086022"/>
            <a:ext cx="5486262" cy="1238219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045" y="3086022"/>
            <a:ext cx="5486262" cy="28574"/>
          </a:xfrm>
          <a:prstGeom prst="rect">
            <a:avLst/>
          </a:prstGeom>
          <a:solidFill>
            <a:srgbClr val="E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1590" y="3295567"/>
            <a:ext cx="5067173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问题二：数据治理缺口（待确认）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590" y="3600359"/>
            <a:ext cx="5067173" cy="6095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数据资产目录、数据分类分级等基础工作尚未系统落地，成为评级提升的突出短板。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386" y="4705232"/>
            <a:ext cx="11124921" cy="761980"/>
          </a:xfrm>
          <a:prstGeom prst="roundRect">
            <a:avLst>
              <a:gd name="adj" fmla="val 4000"/>
            </a:avLst>
          </a:prstGeom>
          <a:solidFill>
            <a:srgbClr val="111C2D"/>
          </a:solidFill>
          <a:ln w="3810">
            <a:solidFill>
              <a:srgbClr val="18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3386" y="4705232"/>
            <a:ext cx="28574" cy="7619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881" y="4781430"/>
            <a:ext cx="10782030" cy="6095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1050" b="1">
                <a:solidFill>
                  <a:srgbClr val="E8CC6A"/>
                </a:solidFill>
                <a:latin typeface="Noto Sans SC"/>
              </a:rPr>
              <a:t>对评级的影响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：当前状态"维度均有覆盖，执行多在边缘"——底线思维可保基本合格，但缺乏显著高于监管基准的质量优势，评级难以跨档提升。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386" y="5657708"/>
            <a:ext cx="11124921" cy="723881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3386" y="5657708"/>
            <a:ext cx="11124921" cy="28574"/>
          </a:xfrm>
          <a:prstGeom prst="rect">
            <a:avLst/>
          </a:prstGeom>
          <a:solidFill>
            <a:srgbClr val="3AA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931" y="5867253"/>
            <a:ext cx="10705832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解决方向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31" y="6172045"/>
            <a:ext cx="10705832" cy="9524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从"基本合格"走向"优良"，必须在各维度上建立超越底线的质量厚度，而非重复建设。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第三章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监管动态与趋势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3581310" cy="2857428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3581310" cy="28574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3162220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2026 近期（高确定性）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3162220" cy="22287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数据安全双规落地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：金监总局+人行双规执法检查关键年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AI算法风险专项监管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：大模型备案、算法审计纳入检查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金科规划换届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：新一轮五年规划预计发布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评级指引修订压力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：历经15年未整体修订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5192" y="1181070"/>
            <a:ext cx="3581310" cy="2857428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05192" y="1181070"/>
            <a:ext cx="3581310" cy="28574"/>
          </a:xfrm>
          <a:prstGeom prst="rect">
            <a:avLst/>
          </a:prstGeom>
          <a:solidFill>
            <a:srgbClr val="E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4737" y="1390615"/>
            <a:ext cx="3162220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2027—2028 中期趋势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4737" y="1695407"/>
            <a:ext cx="3162220" cy="22287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AI算法审计常态化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：成为信息科技审计常规项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密评覆盖率提升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：向重要业务系统扩展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数字金融能力评估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：AI应用、数据资产、云原生纳入评价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6998" y="1181070"/>
            <a:ext cx="3581310" cy="2857428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76998" y="1181070"/>
            <a:ext cx="3581310" cy="28574"/>
          </a:xfrm>
          <a:prstGeom prst="rect">
            <a:avLst/>
          </a:prstGeom>
          <a:solidFill>
            <a:srgbClr val="2B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6542" y="1390615"/>
            <a:ext cx="3162220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2029—2030 长期趋势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542" y="1695407"/>
            <a:ext cx="3162220" cy="22287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实时监管与穿透监管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：EAST系统向实时数据采集演进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AI伦理治理框架成熟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：AI伦理委员会成银行标配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数据资产化体系完善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：数据资产入表配套规则落地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386" y="4228994"/>
            <a:ext cx="1112492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监管趋势与五年计划阶段映射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33386" y="4457588"/>
          <a:ext cx="11124921" cy="16382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307"/>
                <a:gridCol w="3708307"/>
                <a:gridCol w="3708307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计划阶段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监管驱动力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本计划调整方向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 夯实基础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数据安全双规执法、AI算法风险检查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重点突破战役二/三，数据治理确认（战役八）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2027 深化体系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新金科规划、AI治理细化、密评提升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DevSecOps成熟化（战役四重点突破）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2028 争创优良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算法审计常态化、数字金融能力评估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内部模拟检查里程碑（战役二重点突破）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2029 数字赋能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实时监管升级、数据资产化规则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监管数据实时接口上线（战役二/八重点突破）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2030 持续优化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AI伦理框架、可持续治理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科技风险量化预测模型验证（战役二重点突破）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第四章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方针原则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33866" cy="1104872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276318"/>
            <a:ext cx="5067173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01  </a:t>
            </a:r>
            <a:r>
              <a:rPr sz="975" b="1">
                <a:solidFill>
                  <a:srgbClr val="E8CC6A"/>
                </a:solidFill>
                <a:latin typeface="Noto Sans SC"/>
              </a:rPr>
              <a:t>超越底线，质量优先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1562060"/>
            <a:ext cx="5067173" cy="6095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862" b="0">
                <a:solidFill>
                  <a:srgbClr val="8A9BB5"/>
                </a:solidFill>
                <a:latin typeface="Noto Sans SC"/>
              </a:rPr>
              <a:t>拒绝以满足监管最低要求为隐性目标，以"实质有效"而非"形式达标"为交付标准。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045" y="1181070"/>
            <a:ext cx="5486262" cy="1104872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5392" y="1276318"/>
            <a:ext cx="5219569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02  </a:t>
            </a:r>
            <a:r>
              <a:rPr sz="975" b="1">
                <a:solidFill>
                  <a:srgbClr val="E8CC6A"/>
                </a:solidFill>
                <a:latin typeface="Noto Sans SC"/>
              </a:rPr>
              <a:t>提标聚焦，重点突破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5392" y="1562060"/>
            <a:ext cx="5219569" cy="6095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862" b="0">
                <a:solidFill>
                  <a:srgbClr val="8A9BB5"/>
                </a:solidFill>
                <a:latin typeface="Noto Sans SC"/>
              </a:rPr>
              <a:t>每年选定方向集中投入，形成显著高于监管基准的质量优势，推动评级跨档提升。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386" y="2438339"/>
            <a:ext cx="5333866" cy="1104872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733" y="2533586"/>
            <a:ext cx="5067173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03  </a:t>
            </a:r>
            <a:r>
              <a:rPr sz="975" b="1">
                <a:solidFill>
                  <a:srgbClr val="E8CC6A"/>
                </a:solidFill>
                <a:latin typeface="Noto Sans SC"/>
              </a:rPr>
              <a:t>对标监管，全量覆盖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33" y="2819329"/>
            <a:ext cx="5067173" cy="6095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862" b="0">
                <a:solidFill>
                  <a:srgbClr val="8A9BB5"/>
                </a:solidFill>
                <a:latin typeface="Noto Sans SC"/>
              </a:rPr>
              <a:t>建立"评级维度—战役—任务—交付物"四级映射关系，确保每个维度都有主责战役。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045" y="2438339"/>
            <a:ext cx="5486262" cy="1104872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5392" y="2533586"/>
            <a:ext cx="5219569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04  </a:t>
            </a:r>
            <a:r>
              <a:rPr sz="975" b="1">
                <a:solidFill>
                  <a:srgbClr val="E8CC6A"/>
                </a:solidFill>
                <a:latin typeface="Noto Sans SC"/>
              </a:rPr>
              <a:t>协同联动，打破壁垒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5392" y="2819329"/>
            <a:ext cx="5219569" cy="6095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862" b="0">
                <a:solidFill>
                  <a:srgbClr val="8A9BB5"/>
                </a:solidFill>
                <a:latin typeface="Noto Sans SC"/>
              </a:rPr>
              <a:t>以三大核心协作机制为抓手，推动跨部门高效联动，形成协同作战格局。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386" y="3695607"/>
            <a:ext cx="5333866" cy="1104872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6733" y="3790855"/>
            <a:ext cx="5067173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05  </a:t>
            </a:r>
            <a:r>
              <a:rPr sz="975" b="1">
                <a:solidFill>
                  <a:srgbClr val="E8CC6A"/>
                </a:solidFill>
                <a:latin typeface="Noto Sans SC"/>
              </a:rPr>
              <a:t>务实落地，量化可考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33" y="4076598"/>
            <a:ext cx="5067173" cy="6095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862" b="0">
                <a:solidFill>
                  <a:srgbClr val="8A9BB5"/>
                </a:solidFill>
                <a:latin typeface="Noto Sans SC"/>
              </a:rPr>
              <a:t>明确"牵头+协同+交付物+量化验收标准+完成时限"，每项工作可穿透验证。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045" y="3695607"/>
            <a:ext cx="5486262" cy="1104872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5392" y="3790855"/>
            <a:ext cx="5219569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06  </a:t>
            </a:r>
            <a:r>
              <a:rPr sz="975" b="1">
                <a:solidFill>
                  <a:srgbClr val="E8CC6A"/>
                </a:solidFill>
                <a:latin typeface="Noto Sans SC"/>
              </a:rPr>
              <a:t>机制兜底，闭环管控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5392" y="4076598"/>
            <a:ext cx="5219569" cy="6095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862" b="0">
                <a:solidFill>
                  <a:srgbClr val="8A9BB5"/>
                </a:solidFill>
                <a:latin typeface="Noto Sans SC"/>
              </a:rPr>
              <a:t>"发现—认领—整改—验证—销号"全闭环，审计独立验证确保真实整改。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3386" y="4952876"/>
            <a:ext cx="5333866" cy="1104872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6733" y="5048123"/>
            <a:ext cx="5067173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07  </a:t>
            </a:r>
            <a:r>
              <a:rPr sz="975" b="1">
                <a:solidFill>
                  <a:srgbClr val="E8CC6A"/>
                </a:solidFill>
                <a:latin typeface="Noto Sans SC"/>
              </a:rPr>
              <a:t>聚焦提升，证据先行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33" y="5333866"/>
            <a:ext cx="5067173" cy="6095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862" b="0">
                <a:solidFill>
                  <a:srgbClr val="8A9BB5"/>
                </a:solidFill>
                <a:latin typeface="Noto Sans SC"/>
              </a:rPr>
              <a:t>优先启动需长周期积累执行记录的维度，确保迎检时有连续过程证据链。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045" y="4952876"/>
            <a:ext cx="5486262" cy="1104872"/>
          </a:xfrm>
          <a:prstGeom prst="roundRect">
            <a:avLst>
              <a:gd name="adj" fmla="val 5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5392" y="5048123"/>
            <a:ext cx="5219569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08  </a:t>
            </a:r>
            <a:r>
              <a:rPr sz="975" b="1">
                <a:solidFill>
                  <a:srgbClr val="E8CC6A"/>
                </a:solidFill>
                <a:latin typeface="Noto Sans SC"/>
              </a:rPr>
              <a:t>跟踪监管，动态优化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5392" y="5333866"/>
            <a:ext cx="5219569" cy="6095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862" b="0">
                <a:solidFill>
                  <a:srgbClr val="8A9BB5"/>
                </a:solidFill>
                <a:latin typeface="Noto Sans SC"/>
              </a:rPr>
              <a:t>以年度复盘和监管政策跟踪为驱动，滚动调整各年度目标。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第四章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五年战略演进路径与关键指标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2895527"/>
            <a:ext cx="1112492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五年关键指标演进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386" y="3124121"/>
          <a:ext cx="11124920" cy="21716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1230"/>
                <a:gridCol w="2781230"/>
                <a:gridCol w="2781230"/>
                <a:gridCol w="2781230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指标名称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2026基准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2028目标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2030目标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核心系统年度可用率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99.95%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99.99%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SAST/DAST扫描闭环整改率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95%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99%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RTO/RPO演练达标率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100%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高危漏洞平均修复周期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≤ 15天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≤ 7天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KRI自动采集覆盖率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80%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95%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核心系统MTTR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降低30%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降低40%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监管评级目标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攻坚提级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良好等级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优良等级稳定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第四章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监管评级维度与十大战役映射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3386" y="1181070"/>
          <a:ext cx="11124920" cy="32384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1230"/>
                <a:gridCol w="2781230"/>
                <a:gridCol w="2781230"/>
                <a:gridCol w="2781230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监管评级维度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主责战役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落实年份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牵头责任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D1 信息科技治理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战役一·治理架构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2026—2027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科技部·风险制度处 / 风险管理部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D2 信息科技风险管理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战役二·风险管理体系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科技部·风险制度处 / 风险管理部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D3 信息安全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战役三·信息安全攻坚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2026—2029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科技部·网络安全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D4 开发测试维护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战役四·开发测试基线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2026—2028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科技部·开发测试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D5 信息科技运行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战役五·运行管理深化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2026—2027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科技部·系统运行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D6 业务连续性管理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战役六·业务连续性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科技部·系统运行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D7 外包管理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战役七·供应链安全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2026—2028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科技部·规划/科技资源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D8 信息科技审计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独立保障机制（贯穿）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审计部（独立）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数据治理（独立要素）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战役八·数据治理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2026—2027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数据管理部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前瞻性风险防范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战役九·AI安全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科技部·风险制度处 / 风险管理部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人才与文化（跨维度）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战役十·人才培育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33386" y="5429114"/>
            <a:ext cx="11124921" cy="666733"/>
          </a:xfrm>
          <a:prstGeom prst="roundRect">
            <a:avLst>
              <a:gd name="adj" fmla="val 4000"/>
            </a:avLst>
          </a:prstGeom>
          <a:solidFill>
            <a:srgbClr val="111C2D"/>
          </a:solidFill>
          <a:ln w="3810">
            <a:solidFill>
              <a:srgbClr val="18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386" y="5429114"/>
            <a:ext cx="28574" cy="666733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881" y="5505312"/>
            <a:ext cx="10782030" cy="51433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1050" b="1">
                <a:solidFill>
                  <a:srgbClr val="E8CC6A"/>
                </a:solidFill>
                <a:latin typeface="Noto Sans SC"/>
              </a:rPr>
              <a:t>说明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：D8信息科技审计不设独立战役，作为独立保障机制贯穿全计划，确保审计独立性不因参与战役执行而受损。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第五章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十大战役框架总览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3867053"/>
            <a:ext cx="1112492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五年强度映射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386" y="4076598"/>
          <a:ext cx="11124918" cy="29717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4153"/>
                <a:gridCol w="1854153"/>
                <a:gridCol w="1854153"/>
                <a:gridCol w="1854153"/>
                <a:gridCol w="1854153"/>
                <a:gridCol w="1854153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战役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2026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2027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2028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2029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2030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战役一·治理架构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适应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长效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战役二·风险管理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D94F4F"/>
                          </a:solidFill>
                          <a:latin typeface="Noto Sans SC"/>
                        </a:rPr>
                        <a:t>攻坚·重点突破</a:t>
                      </a:r>
                    </a:p>
                  </a:txBody>
                  <a:tcPr anchor="ctr" marL="101600" marR="76200" marT="63500" marB="63500">
                    <a:solidFill>
                      <a:srgbClr val="2E151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战役三·信息安全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D94F4F"/>
                          </a:solidFill>
                          <a:latin typeface="Noto Sans SC"/>
                        </a:rPr>
                        <a:t>攻坚·重点突破</a:t>
                      </a:r>
                    </a:p>
                  </a:txBody>
                  <a:tcPr anchor="ctr" marL="101600" marR="76200" marT="63500" marB="63500">
                    <a:solidFill>
                      <a:srgbClr val="2E151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智能化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领先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战役四·开发测试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持续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领先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战役五·运行管理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赋能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长效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战役六·业务连续性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重点突破候选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扩展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长效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战役七·供应链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深控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长效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战役八·数据治理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E08A3C"/>
                          </a:solidFill>
                          <a:latin typeface="Noto Sans SC"/>
                        </a:rPr>
                        <a:t>待确认</a:t>
                      </a:r>
                    </a:p>
                  </a:txBody>
                  <a:tcPr anchor="ctr" marL="101600" marR="76200" marT="63500" marB="63500">
                    <a:solidFill>
                      <a:srgbClr val="281E1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引领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战役九·AI安全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输出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战役十·人才文化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持续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领先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第五章 · 战役一、二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治理架构 + IT风险管理体系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33866" cy="2476438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33866" cy="285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14777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战役一·治理架构与履职深化 </a:t>
            </a:r>
            <a:r>
              <a:rPr sz="1200" b="0">
                <a:solidFill>
                  <a:srgbClr val="E8CC6A"/>
                </a:solidFill>
                <a:latin typeface="Noto Serif SC"/>
              </a:rPr>
              <a:t>D1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14777" cy="18478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定位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：基础架构已具备，核心是履职记录的完整性与可查验性。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CIO汇报记录连续完整，可穿透查验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IT管理委员会纪要 ≥4次/年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开发/测试/运维岗位分离无交叉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IT战略规划与全行经营战略年度对齐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董事会科技风险专题汇报 ≥4次/年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045" y="1181070"/>
            <a:ext cx="5486262" cy="2476438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045" y="1181070"/>
            <a:ext cx="5486262" cy="28574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1590" y="1390615"/>
            <a:ext cx="5067173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战役二·IT风险管理体系深化 </a:t>
            </a:r>
            <a:r>
              <a:rPr sz="1200" b="0">
                <a:solidFill>
                  <a:srgbClr val="E8CC6A"/>
                </a:solidFill>
                <a:latin typeface="Noto Serif SC"/>
              </a:rPr>
              <a:t>D2·攻坚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590" y="1695407"/>
            <a:ext cx="5067173" cy="18478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定位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：构建量化、可视、闭环的风险管理体系，支撑2030年量化预测模型。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KRI体系完善：指标质量 + 自动采集 ≥60%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全行风险评估RCSA覆盖率100%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分层分级风险报告（周/月/季三级）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ITMIS/SOC平台能力激活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2030终极目标：科技风险量化预测模型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3848003"/>
            <a:ext cx="1112492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五年演进对比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3386" y="4076598"/>
          <a:ext cx="11124918" cy="8381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4153"/>
                <a:gridCol w="1854153"/>
                <a:gridCol w="1854153"/>
                <a:gridCol w="1854153"/>
                <a:gridCol w="1854153"/>
                <a:gridCol w="1854153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战役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2026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2027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2028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2029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2030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战役一·治理架构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底线保障：履职证据链完整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规范化运作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3年综合评估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应对指引修订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长效机制固化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战役二·风险管理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D94F4F"/>
                          </a:solidFill>
                          <a:latin typeface="Noto Sans SC"/>
                        </a:rPr>
                        <a:t>攻坚：KRI ≥60%自动采集</a:t>
                      </a:r>
                    </a:p>
                  </a:txBody>
                  <a:tcPr anchor="ctr" marL="101600" marR="76200" marT="63500" marB="63500">
                    <a:solidFill>
                      <a:srgbClr val="2E151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KRI ≥80%自动采集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模拟检查 ≥95%整改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实时接口上线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量化预测模型验证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33386" y="5333866"/>
            <a:ext cx="11124921" cy="1009624"/>
          </a:xfrm>
          <a:prstGeom prst="roundRect">
            <a:avLst>
              <a:gd name="adj" fmla="val 4000"/>
            </a:avLst>
          </a:prstGeom>
          <a:solidFill>
            <a:srgbClr val="111C2D"/>
          </a:solidFill>
          <a:ln w="3810">
            <a:solidFill>
              <a:srgbClr val="18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3386" y="5333866"/>
            <a:ext cx="28574" cy="100962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881" y="5410064"/>
            <a:ext cx="10782030" cy="8572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1050" b="1">
                <a:solidFill>
                  <a:srgbClr val="E8CC6A"/>
                </a:solidFill>
                <a:latin typeface="Noto Sans SC"/>
              </a:rPr>
              <a:t>战役二核心叙事线（播种—积累—收获）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：2026年建立高质量KRI数据基础和事件数据库 → 2027-2028年持续积累数据、引入量化方法论 → 2029年启动量化预测模型建设 → 2030年四年数据积累形成可训练模型，实现从"描述已发生的风险"到"预测将要发生的风险"的跨越。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第五章 · 战役三、四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信息安全攻坚 + 开发测试基线提升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33866" cy="276218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33866" cy="28574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14777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战役三·信息安全深化攻坚 </a:t>
            </a:r>
            <a:r>
              <a:rPr sz="1200" b="0">
                <a:solidFill>
                  <a:srgbClr val="E8CC6A"/>
                </a:solidFill>
                <a:latin typeface="Noto Serif SC"/>
              </a:rPr>
              <a:t>D3·攻坚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14777" cy="213354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定位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：在认证已通过的基础上，激活现有安全产品完整功能（消除"已购未用"），深化执行实质性。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安全产品功能激活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：逐产品梳理已购 vs 实际启用差距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PAM精细化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：共享账号清零，特权行为100%可审计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安全基线自动化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：核心系统 ≥95%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零信任架构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：分阶段覆盖核心业务系统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红蓝对抗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：无预告实战演练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数据安全双规合规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：整改落地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045" y="1181070"/>
            <a:ext cx="5486262" cy="276218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045" y="1181070"/>
            <a:ext cx="5486262" cy="2857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1590" y="1390615"/>
            <a:ext cx="5067173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战役四·开发测试安全基线提升 </a:t>
            </a:r>
            <a:r>
              <a:rPr sz="1200" b="0">
                <a:solidFill>
                  <a:srgbClr val="E8CC6A"/>
                </a:solidFill>
                <a:latin typeface="Noto Serif SC"/>
              </a:rPr>
              <a:t>D4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590" y="1695407"/>
            <a:ext cx="5067173" cy="213354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定位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：核心是安全基线质量标尺系统性偏低——检测规则停在默认配置，安全需求停在检查清单层面。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安全基线规则深化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：超越默认配置，定制化检测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SAST/DAST闭环整改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：中危以上全量闭环 ≥90%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安全门禁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：安全评审不通过不得进入下一阶段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测试数据清零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：真实客户数据零存留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DevSecOps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：2027年重点突破，覆盖 ≥60%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SCA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：开源组件风险管控引入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3386" y="4133746"/>
          <a:ext cx="11124918" cy="8381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4153"/>
                <a:gridCol w="1854153"/>
                <a:gridCol w="1854153"/>
                <a:gridCol w="1854153"/>
                <a:gridCol w="1854153"/>
                <a:gridCol w="1854153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战役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2026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2027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2028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2029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2030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战役三·信息安全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D94F4F"/>
                          </a:solidFill>
                          <a:latin typeface="Noto Sans SC"/>
                        </a:rPr>
                        <a:t>攻坚：产品激活+PAM+红蓝</a:t>
                      </a:r>
                    </a:p>
                  </a:txBody>
                  <a:tcPr anchor="ctr" marL="101600" marR="76200" marT="63500" marB="63500">
                    <a:solidFill>
                      <a:srgbClr val="2E151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零信任核心系统+漏洞≤15天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AI安全+攻防≥2次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UEBA+响应-50%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重复率≤5%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战役四·开发测试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基线深化+整改≥90%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DevSecOps≥60%+SCA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覆盖≥80%+CMMi L4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AI辅助测试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逃逸率≤0.5%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33386" y="5162420"/>
            <a:ext cx="5333866" cy="1200119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3386" y="5162420"/>
            <a:ext cx="5333866" cy="28574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31" y="5371965"/>
            <a:ext cx="4914777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战役三核心交付物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31" y="5676758"/>
            <a:ext cx="4914777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安全产品功能激活路线图、PAM深化实施报告、安全基线自动化检测报告、红蓝对抗复盘报告、数据安全双规合规差距分析报告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045" y="5162420"/>
            <a:ext cx="5486262" cy="1200119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045" y="5162420"/>
            <a:ext cx="5486262" cy="2857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1590" y="5371965"/>
            <a:ext cx="5067173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战役四核心交付物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1590" y="5676758"/>
            <a:ext cx="5067173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安全基线检测规则定制化报告、SAST/DAST扫描闭环整改台账、SDLC安全门禁执行报告、测试数据脱敏验证报告、DevSecOps覆盖率统计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第五章 · 战役五、六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运行管理深化 + 业务连续性实战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33866" cy="2724081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33866" cy="2857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14777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战役五·IT运行管理深化 </a:t>
            </a:r>
            <a:r>
              <a:rPr sz="1200" b="0">
                <a:solidFill>
                  <a:srgbClr val="E8CC6A"/>
                </a:solidFill>
                <a:latin typeface="Noto Serif SC"/>
              </a:rPr>
              <a:t>D5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14777" cy="209544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定位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：ITMIS平台已运行，聚焦数据质量与流程执行深度，以连续完整的执行记录为迎检基础。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事件管理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：P1/P2 RCA 5个工作日内完成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问题管理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：独立于事件管理运作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CMDB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：自动发现与实时同步 ≥95%准确率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容量管理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：趋势预警与月报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监控告警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：虚假告警率 ≤5%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日志集中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：核心系统保留 ≥1年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045" y="1181070"/>
            <a:ext cx="5486262" cy="2724081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045" y="1181070"/>
            <a:ext cx="5486262" cy="28574"/>
          </a:xfrm>
          <a:prstGeom prst="rect">
            <a:avLst/>
          </a:prstGeom>
          <a:solidFill>
            <a:srgbClr val="3AA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1590" y="1390615"/>
            <a:ext cx="5067173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战役六·业务连续性与灾备实战 </a:t>
            </a:r>
            <a:r>
              <a:rPr sz="1200" b="0">
                <a:solidFill>
                  <a:srgbClr val="E8CC6A"/>
                </a:solidFill>
                <a:latin typeface="Noto Serif SC"/>
              </a:rPr>
              <a:t>D6·候选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590" y="1695407"/>
            <a:ext cx="5067173" cy="209544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定位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：以演练质量跃升为核心——从脚本式全灾切换，升级为场景化重大故障应急。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场景化演练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：数据库单点、网络分区、中间件崩溃等独立场景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BIA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：年度复核，更新RTO/RPO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备份验证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：完整性与可恢复性年度验证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审计见证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：防止脚本式演练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联合演练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：与支付清算、央行等系统协同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3386" y="4095647"/>
          <a:ext cx="11124918" cy="8381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4153"/>
                <a:gridCol w="1854153"/>
                <a:gridCol w="1854153"/>
                <a:gridCol w="1854153"/>
                <a:gridCol w="1854153"/>
                <a:gridCol w="1854153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战役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2026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2027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2028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2029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2030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战役五·运行管理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六子方向全面提升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CMDB≥98%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巡检自动化≥90%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AIOps探索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可用率≥99.99%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战役六·业务连续性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场景演练≥3个+BIA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制度化+RTO/RPO≥90%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≥6场景+100%达标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联合演练≥2次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完整故障谱覆盖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33386" y="5181470"/>
            <a:ext cx="11124921" cy="1142971"/>
          </a:xfrm>
          <a:prstGeom prst="roundRect">
            <a:avLst>
              <a:gd name="adj" fmla="val 4000"/>
            </a:avLst>
          </a:prstGeom>
          <a:solidFill>
            <a:srgbClr val="111C2D"/>
          </a:solidFill>
          <a:ln w="3810">
            <a:solidFill>
              <a:srgbClr val="18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3386" y="5181470"/>
            <a:ext cx="28574" cy="1142971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881" y="5257668"/>
            <a:ext cx="10782030" cy="990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1050" b="1">
                <a:solidFill>
                  <a:srgbClr val="E8CC6A"/>
                </a:solidFill>
                <a:latin typeface="Noto Sans SC"/>
              </a:rPr>
              <a:t>保底四战役中的两个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：战役五和战役六属于"保底四战役"（连同战役三、战役四），无论发生何种冲击，执行不得中断。</a:t>
            </a:r>
          </a:p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1050" b="1">
                <a:solidFill>
                  <a:srgbClr val="E8CC6A"/>
                </a:solidFill>
                <a:latin typeface="Noto Sans SC"/>
              </a:rPr>
              <a:t>证据链关键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：战役五事件工单台账和战役四安全基线台账，需连续积累 ≥6个月以上方可形成有效证据链，一旦中断无法补救——必须从Q1起开始积累。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第五章 · 战役七—十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供应链 · 数据治理 · AI安全 · 人才文化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33866" cy="238119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33866" cy="2857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14777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战役七·供应链安全 </a:t>
            </a:r>
            <a:r>
              <a:rPr sz="1200" b="0">
                <a:solidFill>
                  <a:srgbClr val="E8CC6A"/>
                </a:solidFill>
                <a:latin typeface="Noto Serif SC"/>
              </a:rPr>
              <a:t>D7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14777" cy="17525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5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定位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：外包基础制度成熟，聚焦供应链安全——软件供应链（开源漏洞、第三方库）和服务供应链（API依赖深度）。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第三方软件与关键服务依赖清单首建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SBOM软件物料清单逐步建立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供应商安全基线评估、安全评级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外包基础管理例行维持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045" y="1181070"/>
            <a:ext cx="5486262" cy="238119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045" y="1181070"/>
            <a:ext cx="5486262" cy="28574"/>
          </a:xfrm>
          <a:prstGeom prst="rect">
            <a:avLst/>
          </a:prstGeom>
          <a:solidFill>
            <a:srgbClr val="E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1590" y="1390615"/>
            <a:ext cx="5067173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战役八·数据治理与隐私保护 </a:t>
            </a:r>
            <a:r>
              <a:rPr sz="1200" b="0">
                <a:solidFill>
                  <a:srgbClr val="E8CC6A"/>
                </a:solidFill>
                <a:latin typeface="Noto Serif SC"/>
              </a:rPr>
              <a:t>待确认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590" y="1695407"/>
            <a:ext cx="5067173" cy="17525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5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定位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：数据治理基础缺口范围有待确认。若缺口存在则优先落地数据资产目录；若已具备则提升分类分级精细度。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全行数据资产目录（落地或质量提升）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数据分类分级标注（双规对齐）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数据血缘追踪系统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测试环境真实客户数据清零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386" y="3752756"/>
            <a:ext cx="5333866" cy="2571685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3386" y="3752756"/>
            <a:ext cx="5333866" cy="28574"/>
          </a:xfrm>
          <a:prstGeom prst="rect">
            <a:avLst/>
          </a:prstGeom>
          <a:solidFill>
            <a:srgbClr val="2B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931" y="3962300"/>
            <a:ext cx="4914777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战役九·新技术应用与AI安全 </a:t>
            </a:r>
            <a:r>
              <a:rPr sz="1200" b="0">
                <a:solidFill>
                  <a:srgbClr val="E8CC6A"/>
                </a:solidFill>
                <a:latin typeface="Noto Serif SC"/>
              </a:rPr>
              <a:t>前瞻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31" y="4267093"/>
            <a:ext cx="4914777" cy="19430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5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定位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：建立新技术风险管控基础框架，满足AI算法风险监管前瞻性要求。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新技术风险评估框架发布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AI模型上线前100%评估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AI模型全生命周期管理（准入—运行—验证—退出）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算法可解释性与审计路径探索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2030年：参与行业标准制定，AI治理框架输出行业参考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045" y="3752756"/>
            <a:ext cx="5486262" cy="2571685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045" y="3752756"/>
            <a:ext cx="5486262" cy="28574"/>
          </a:xfrm>
          <a:prstGeom prst="rect">
            <a:avLst/>
          </a:prstGeom>
          <a:solidFill>
            <a:srgbClr val="3AA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1590" y="3962300"/>
            <a:ext cx="5067173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战役十·人才队伍与文化培育 </a:t>
            </a:r>
            <a:r>
              <a:rPr sz="1200" b="0">
                <a:solidFill>
                  <a:srgbClr val="E8CC6A"/>
                </a:solidFill>
                <a:latin typeface="Noto Serif SC"/>
              </a:rPr>
              <a:t>跨维度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590" y="4267093"/>
            <a:ext cx="5067173" cy="19430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5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定位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：激活效能与建立风险文化——以可量化指标衡量文化成效。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信息科技人员占比达标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全员安全培训完成率 ≥95%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钓鱼演练点击率逐次下降（目标≤8%）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关键岗位专项方向培训（CISP/CISSP/CISA等方向）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双向挂职（风险↔科技）≥2人/年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第六章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2026年作战计划：重点突破战役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1181070"/>
            <a:ext cx="11124921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0">
                <a:solidFill>
                  <a:srgbClr val="F0ECE4"/>
                </a:solidFill>
                <a:latin typeface="Noto Sans SC"/>
              </a:rPr>
              <a:t>2026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突破底线思维，激活现有能力；补齐唯一真正空白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3386" y="1657308"/>
            <a:ext cx="3581310" cy="2990775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386" y="1657308"/>
            <a:ext cx="3581310" cy="28574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31" y="1866853"/>
            <a:ext cx="3162220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战役二·风险管理 </a:t>
            </a:r>
            <a:r>
              <a:rPr sz="1200" b="0">
                <a:solidFill>
                  <a:srgbClr val="E8CC6A"/>
                </a:solidFill>
                <a:latin typeface="Noto Serif SC"/>
              </a:rPr>
              <a:t>攻坚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31" y="2171645"/>
            <a:ext cx="3162220" cy="23621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Q1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：修订风险管理框架；KRI优化启动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Q2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：全行RCSA风险评估100%覆盖；风险报告制度完善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Q3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：风险事件管理模块完善；SOC关联规则扩展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Q4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：KRI自动采集覆盖率验收 ≥60%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900" b="0">
                <a:solidFill>
                  <a:srgbClr val="C9A84C"/>
                </a:solidFill>
                <a:latin typeface="Noto Sans SC"/>
              </a:rPr>
              <a:t>验收：KRI≥30个 | 自动采集≥60% | 评估覆盖100%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5192" y="1657308"/>
            <a:ext cx="3581310" cy="2990775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05192" y="1657308"/>
            <a:ext cx="3581310" cy="28574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4737" y="1866853"/>
            <a:ext cx="3162220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战役三·信息安全 </a:t>
            </a:r>
            <a:r>
              <a:rPr sz="1200" b="0">
                <a:solidFill>
                  <a:srgbClr val="E8CC6A"/>
                </a:solidFill>
                <a:latin typeface="Noto Serif SC"/>
              </a:rPr>
              <a:t>攻坚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4737" y="2171645"/>
            <a:ext cx="3162220" cy="23621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Q1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：安全产品功能全面梳理；双规差距分析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Q2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：功能激活推进；PAM深化；安全基线自动化≥95%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Q3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：零信任覆盖核心系统；红蓝对抗实战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Q4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：核心功能启用率验收 ≥80%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900" b="0">
                <a:solidFill>
                  <a:srgbClr val="C9A84C"/>
                </a:solidFill>
                <a:latin typeface="Noto Sans SC"/>
              </a:rPr>
              <a:t>验收：启用率≥80% | 共享账号清零 | P1响应≥90%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6998" y="1657308"/>
            <a:ext cx="3581310" cy="2990775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6998" y="1657308"/>
            <a:ext cx="3581310" cy="28574"/>
          </a:xfrm>
          <a:prstGeom prst="rect">
            <a:avLst/>
          </a:prstGeom>
          <a:solidFill>
            <a:srgbClr val="3AA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6542" y="1866853"/>
            <a:ext cx="3162220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战役六·业务连续性 </a:t>
            </a:r>
            <a:r>
              <a:rPr sz="1200" b="0">
                <a:solidFill>
                  <a:srgbClr val="E8CC6A"/>
                </a:solidFill>
                <a:latin typeface="Noto Serif SC"/>
              </a:rPr>
              <a:t>候选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542" y="2171645"/>
            <a:ext cx="3162220" cy="23621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Q1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：联合业务部门BIA完成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Q2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：灾备能力差距分析；独立场景方案设计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Q3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：场景化演练≥3个；备份可恢复验证；审计见证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Q4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：联合演练≥1次；修订总体预案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900" b="0">
                <a:solidFill>
                  <a:srgbClr val="C9A84C"/>
                </a:solidFill>
                <a:latin typeface="Noto Sans SC"/>
              </a:rPr>
              <a:t>验收：BIA 100% | 演练≥3场景 | RTO/RPO通过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386" y="4838579"/>
            <a:ext cx="11124921" cy="1523961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3386" y="4838579"/>
            <a:ext cx="11124921" cy="28574"/>
          </a:xfrm>
          <a:prstGeom prst="rect">
            <a:avLst/>
          </a:prstGeom>
          <a:solidFill>
            <a:srgbClr val="E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31" y="5048123"/>
            <a:ext cx="10705832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战役八·数据治理 </a:t>
            </a:r>
            <a:r>
              <a:rPr sz="1200" b="0">
                <a:solidFill>
                  <a:srgbClr val="E8CC6A"/>
                </a:solidFill>
                <a:latin typeface="Noto Serif SC"/>
              </a:rPr>
              <a:t>待确认强度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31" y="5352916"/>
            <a:ext cx="10705832" cy="89532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5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Q1评估现状确认缺口 → Q2数据资产目录落地/提升（≥95%）+ 分类分级 → Q3血缘追踪 + 个人信息合规 + 测试数据清零 → Q4审计穿透检查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验收标准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：数据资产目录覆盖率 ≥95%；数据分类分级对齐双规 ≥95%；测试环境真实客户数据清零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第六章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2026年：底线保障战役与季度路线图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1181070"/>
            <a:ext cx="1112492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底线保障战役（6个）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386" y="1409664"/>
          <a:ext cx="11124921" cy="1904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307"/>
                <a:gridCol w="3708307"/>
                <a:gridCol w="3708307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战役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2026目标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关键红线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战役一·治理架构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基础治理达标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CIO履职完整；委员会≥4次；开发测试零生产权限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战役四·开发测试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安全基线提升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SAST/DAST整改≥90%；上线前安全测试100%；测试数据清零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战役五·运行管理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六子方向提升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P1/P2 RCA 100%；CMDB≥95%；批处理监控100%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战役七·供应链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依赖清单首建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离场权限48h回收100%；代码安全审查100%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战役九·AI安全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基础框架发布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新技术框架高管审批；AI上线前100%评估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战役十·人才文化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人员占比达标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全员培训≥95%；钓鱼演练点击率逐次下降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3386" y="3943251"/>
            <a:ext cx="1112492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季度实施路线图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386" y="4171845"/>
            <a:ext cx="3581310" cy="2190695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386" y="4171845"/>
            <a:ext cx="3581310" cy="285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931" y="4381390"/>
            <a:ext cx="3162220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Q1 机制启动·基础先行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31" y="4686182"/>
            <a:ext cx="3162220" cy="15620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发布三大协作机制+审计独立性保障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搭建整改销号平台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各部门监管评级模拟自测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战役二/三/四/五/八启动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5192" y="4171845"/>
            <a:ext cx="3581310" cy="2190695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5192" y="4171845"/>
            <a:ext cx="3581310" cy="28574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4737" y="4381390"/>
            <a:ext cx="3162220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Q2—Q3 全力攻坚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4737" y="4686182"/>
            <a:ext cx="3162220" cy="15620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"周通报、月调度"推进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Q2：KRI完善、安全产品激活、BIA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Q3：红蓝对抗、场景演练≥3个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审计部同步过程审计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6998" y="4171845"/>
            <a:ext cx="3581310" cy="2190695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6998" y="4171845"/>
            <a:ext cx="3581310" cy="28574"/>
          </a:xfrm>
          <a:prstGeom prst="rect">
            <a:avLst/>
          </a:prstGeom>
          <a:solidFill>
            <a:srgbClr val="3AA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6542" y="4381390"/>
            <a:ext cx="3162220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Q4 固化迎检·证据冲刺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542" y="4686182"/>
            <a:ext cx="3162220" cy="15620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整理证据链档案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战役四/五台账连续≥6个月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审计"整改回头看"全面审计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模拟监管进场访谈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向董事会汇报全年成效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第七至十章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2027—2030年作战计划概览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33866" cy="238119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33866" cy="28574"/>
          </a:xfrm>
          <a:prstGeom prst="rect">
            <a:avLst/>
          </a:prstGeom>
          <a:solidFill>
            <a:srgbClr val="2B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14777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0">
                <a:solidFill>
                  <a:srgbClr val="E8CC6A"/>
                </a:solidFill>
                <a:latin typeface="Noto Serif SC"/>
              </a:rPr>
              <a:t>2027</a:t>
            </a:r>
            <a:r>
              <a:rPr sz="1200" b="0">
                <a:solidFill>
                  <a:srgbClr val="E8CC6A"/>
                </a:solidFill>
                <a:latin typeface="Noto Serif SC"/>
              </a:rPr>
              <a:t> 深化体系·重点成型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14777" cy="17525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5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重点突破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：战役四·DevSecOps安全左移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DevSecOps覆盖主要项目 ≥60%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KRI自动采集率 ≥80%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零信任覆盖核心系统；漏洞修复 ≤15天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CMDB实时同步准确率 ≥98%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双向挂职落实 ≥2人；钓鱼点击率 ≤8%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045" y="1181070"/>
            <a:ext cx="5486262" cy="238119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045" y="1181070"/>
            <a:ext cx="5486262" cy="28574"/>
          </a:xfrm>
          <a:prstGeom prst="rect">
            <a:avLst/>
          </a:prstGeom>
          <a:solidFill>
            <a:srgbClr val="3AA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1590" y="1390615"/>
            <a:ext cx="5067173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0">
                <a:solidFill>
                  <a:srgbClr val="E8CC6A"/>
                </a:solidFill>
                <a:latin typeface="Noto Serif SC"/>
              </a:rPr>
              <a:t>2028</a:t>
            </a:r>
            <a:r>
              <a:rPr sz="1200" b="0">
                <a:solidFill>
                  <a:srgbClr val="E8CC6A"/>
                </a:solidFill>
                <a:latin typeface="Noto Serif SC"/>
              </a:rPr>
              <a:t> 争创优良·全面成熟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590" y="1695407"/>
            <a:ext cx="5067173" cy="17525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5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重点突破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：战役二·内部模拟检查里程碑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内部模拟检查机制建立运作，整改率 ≥95%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DevSecOps覆盖率 ≥80%；推进CMMi L4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攻防演练常态化 ≥2次/年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RTO/RPO 100%达标；演练 ≥6个场景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安全事件重复发生率 ≤10%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386" y="3752756"/>
            <a:ext cx="5333866" cy="2571685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3386" y="3752756"/>
            <a:ext cx="5333866" cy="2857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931" y="3962300"/>
            <a:ext cx="4914777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0">
                <a:solidFill>
                  <a:srgbClr val="E8CC6A"/>
                </a:solidFill>
                <a:latin typeface="Noto Serif SC"/>
              </a:rPr>
              <a:t>2029</a:t>
            </a:r>
            <a:r>
              <a:rPr sz="1200" b="0">
                <a:solidFill>
                  <a:srgbClr val="E8CC6A"/>
                </a:solidFill>
                <a:latin typeface="Noto Serif SC"/>
              </a:rPr>
              <a:t> 数字赋能·智能管控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31" y="4267093"/>
            <a:ext cx="4914777" cy="19430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5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重点突破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：战役二·监管数据实时自动采集接口上线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从人工报送到系统直连监管机构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量化预测模型建设启动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SOC关联规则大幅扩展；UEBA引入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威胁响应时效较基准 -50%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AI辅助测试引入；AIOps方向探索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联合演练常态化 ≥2次/年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045" y="3752756"/>
            <a:ext cx="5486262" cy="2571685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045" y="3752756"/>
            <a:ext cx="5486262" cy="285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1590" y="3962300"/>
            <a:ext cx="5067173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0">
                <a:solidFill>
                  <a:srgbClr val="E8CC6A"/>
                </a:solidFill>
                <a:latin typeface="Noto Serif SC"/>
              </a:rPr>
              <a:t>2030</a:t>
            </a:r>
            <a:r>
              <a:rPr sz="1200" b="0">
                <a:solidFill>
                  <a:srgbClr val="E8CC6A"/>
                </a:solidFill>
                <a:latin typeface="Noto Serif SC"/>
              </a:rPr>
              <a:t> 持续优化·长效治理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590" y="4267093"/>
            <a:ext cx="5067173" cy="19430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5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重点突破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：战役二·科技风险量化预测模型成熟验证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四年数据积累形成可训练量化模型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从"描述风险"跨越到"预测风险"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核心系统可用率 ≥99.99%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缺陷逃逸率 ≤0.5%；重复安全事件 ≤5%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AI治理框架输出行业参考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监管评级稳定保持优良等级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第十一章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分工协作与组织机制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3581310" cy="2285942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3581310" cy="28574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3162220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三角联席工作制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3162220" cy="16573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5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核心日常执行机制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风险管理部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：定标准、审合规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信息科技部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：落执行、保安全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数据管理部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：保质量、定数据标准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双周例会 + 月度联合风险报告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5192" y="1181070"/>
            <a:ext cx="3581310" cy="2285942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05192" y="1181070"/>
            <a:ext cx="3581310" cy="285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4737" y="1390615"/>
            <a:ext cx="3162220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科委会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4737" y="1695407"/>
            <a:ext cx="3162220" cy="16573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5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高层治理背书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依托现有科技委员会，无需新设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批准年度资源方案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裁决跨部门重大争议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紧急事项24小时内审议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6998" y="1181070"/>
            <a:ext cx="3581310" cy="2285942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76998" y="1181070"/>
            <a:ext cx="3581310" cy="28574"/>
          </a:xfrm>
          <a:prstGeom prst="rect">
            <a:avLst/>
          </a:prstGeom>
          <a:solidFill>
            <a:srgbClr val="3AA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6542" y="1390615"/>
            <a:ext cx="3162220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整改销号闭环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542" y="1695407"/>
            <a:ext cx="3162220" cy="16573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5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监督与问责层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数字化看板：全线上化管理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发起 → 认领(3日) → 验证 → 销号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仅审计部可批准销号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逾期自动升级至科委会督办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386" y="3657508"/>
            <a:ext cx="1112492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信息科技部内部专业板块分工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33386" y="3886102"/>
          <a:ext cx="11124921" cy="1904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307"/>
                <a:gridCol w="3708307"/>
                <a:gridCol w="3708307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板块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核心职责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主责战役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系统运行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数据中心运营、网络主机、生产调度、灾备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战役五、六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应用支持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业务需求受理、应用运维、用户权限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战役四（运维侧）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开发测试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软件开发规范、DevSecOps、代码安全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战役四（开发侧）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网络安全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安全体系、数据安全、访问控制、漏洞管理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风险管理-制度处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风险识别评估、KRI监测、监管报送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战役一、二、九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规划/科技资源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IT规划、供应商与外包管理、预算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战役七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33386" y="5943451"/>
            <a:ext cx="11124921" cy="419089"/>
          </a:xfrm>
          <a:prstGeom prst="roundRect">
            <a:avLst>
              <a:gd name="adj" fmla="val 4000"/>
            </a:avLst>
          </a:prstGeom>
          <a:solidFill>
            <a:srgbClr val="111C2D"/>
          </a:solidFill>
          <a:ln w="3810">
            <a:solidFill>
              <a:srgbClr val="18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3386" y="5943451"/>
            <a:ext cx="28574" cy="41908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881" y="6019649"/>
            <a:ext cx="10782030" cy="26669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1050" b="1">
                <a:solidFill>
                  <a:srgbClr val="E8CC6A"/>
                </a:solidFill>
                <a:latin typeface="Noto Sans SC"/>
              </a:rPr>
              <a:t>三道防线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：第一道 信息科技部·风险制度处 | 第二道 风险管理部 | 第三道 审计部（独立鉴证，不参与执行决策）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第十二章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保障机制与应急调整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33866" cy="2190695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33866" cy="28574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14777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考核与激励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14777" cy="15620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双向打分制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：科技部绩效30%由风险管理部打分；风险管理部20%由科技部打分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红线问责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：因推诿导致评级下降，部门负责人年度绩效一票否决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虚假整改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：审计发现后直接移交纪检监察部门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激励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：攻坚成效显著者绩效加分+评优表彰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045" y="1181070"/>
            <a:ext cx="5486262" cy="2190695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045" y="1181070"/>
            <a:ext cx="5486262" cy="2857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1590" y="1390615"/>
            <a:ext cx="5067173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资源与组织保障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590" y="1695407"/>
            <a:ext cx="5067173" cy="15620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专项整改预算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：优先保障安全能力工具、平台升级、第三方审计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刚性投入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：灾备建设、安全运营不得因预算压缩延期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人力保障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：关键岗位优先招聘，跨部门借调科委会统一审批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沟通联动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：主动对接监管机构，加强同业交流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3562260"/>
            <a:ext cx="1112492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应急调整机制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3386" y="3790855"/>
          <a:ext cx="11124921" cy="1371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307"/>
                <a:gridCol w="3708307"/>
                <a:gridCol w="3708307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触发场景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应急响应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资源调整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重大信息安全事件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24小时紧急会议，暂停非核心战役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战役九/十降级维持性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监管专项/突击检查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48小时专项应对小组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动态调整战役优先级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关键供应商重大事故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启动外包退出应急预案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战役七升级最高优先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监管评级标准重大调整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一周内完成映射分析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新增或调整战役内容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33386" y="5562460"/>
            <a:ext cx="11124921" cy="781030"/>
          </a:xfrm>
          <a:prstGeom prst="roundRect">
            <a:avLst>
              <a:gd name="adj" fmla="val 4000"/>
            </a:avLst>
          </a:prstGeom>
          <a:solidFill>
            <a:srgbClr val="111C2D"/>
          </a:solidFill>
          <a:ln w="3810">
            <a:solidFill>
              <a:srgbClr val="18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3386" y="5562460"/>
            <a:ext cx="28574" cy="78103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881" y="5638659"/>
            <a:ext cx="10782030" cy="62863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1050" b="1">
                <a:solidFill>
                  <a:srgbClr val="E8CC6A"/>
                </a:solidFill>
                <a:latin typeface="Noto Sans SC"/>
              </a:rPr>
              <a:t>保底四战役（任何冲击下不得中断）</a:t>
            </a:r>
          </a:p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1050" b="0">
                <a:solidFill>
                  <a:srgbClr val="F0ECE4"/>
                </a:solidFill>
                <a:latin typeface="Noto Sans SC"/>
              </a:rPr>
              <a:t>战役三·信息安全 | 战役四·开发测试 | 战役五·运行管理 | 战役六·业务连续性 —— 均为一级关注领域或证据链不可中断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1885" y="2047823"/>
            <a:ext cx="3047923" cy="323841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75" b="0">
                <a:solidFill>
                  <a:srgbClr val="C9A84C"/>
                </a:solidFill>
                <a:latin typeface="Noto Sans SC"/>
              </a:rPr>
              <a:t>2026—2030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9704" y="2571685"/>
            <a:ext cx="8572285" cy="123821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35000"/>
              </a:lnSpc>
            </a:pPr>
            <a:r>
              <a:rPr sz="3300" b="1">
                <a:solidFill>
                  <a:srgbClr val="F0ECE4"/>
                </a:solidFill>
                <a:latin typeface="Noto Serif SC"/>
              </a:rPr>
              <a:t>超越底线 质量优先</a:t>
            </a:r>
          </a:p>
          <a:p>
            <a:pPr algn="ctr">
              <a:lnSpc>
                <a:spcPct val="135000"/>
              </a:lnSpc>
            </a:pPr>
            <a:r>
              <a:rPr sz="3300" b="1">
                <a:solidFill>
                  <a:srgbClr val="C9A84C"/>
                </a:solidFill>
                <a:latin typeface="Noto Serif SC"/>
              </a:rPr>
              <a:t>协同作战 共赢评级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4857" y="3952776"/>
            <a:ext cx="761980" cy="1904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9704" y="4190895"/>
            <a:ext cx="8572285" cy="380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650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04" y="4667133"/>
            <a:ext cx="8572285" cy="380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75" b="0">
                <a:solidFill>
                  <a:srgbClr val="8A9BB5"/>
                </a:solidFill>
                <a:latin typeface="Noto Sans SC"/>
              </a:rPr>
              <a:t>v0.04 | 2026年3月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