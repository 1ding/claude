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1909" y="2000159"/>
            <a:ext cx="3047970" cy="323880"/>
          </a:xfrm>
          <a:prstGeom prst="roundRect">
            <a:avLst>
              <a:gd name="adj" fmla="val 5647"/>
            </a:avLst>
          </a:prstGeom>
          <a:solidFill>
            <a:srgbClr val="0A1628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1909" y="2000159"/>
            <a:ext cx="3047970" cy="3238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2026—2030 五年战略计划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1809689" y="2571659"/>
            <a:ext cx="8572317" cy="1333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30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银行信息科技风险监管</a:t>
            </a:r>
            <a:pPr algn="ctr" indent="0" marL="0">
              <a:lnSpc>
                <a:spcPct val="135000"/>
              </a:lnSpc>
              <a:buNone/>
            </a:pPr>
            <a:r>
              <a:rPr lang="en-US" sz="330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评级提升</a:t>
            </a:r>
            <a:endParaRPr lang="en-US" sz="1050" dirty="0"/>
          </a:p>
          <a:p>
            <a:pPr algn="ctr" indent="0" marL="0">
              <a:lnSpc>
                <a:spcPct val="135000"/>
              </a:lnSpc>
              <a:buNone/>
            </a:pPr>
            <a:endParaRPr lang="en-US" sz="10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30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协同作战计划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714817" y="3952768"/>
            <a:ext cx="761970" cy="19020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09689" y="4190878"/>
            <a:ext cx="8572317" cy="3810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政策性银行科技风险治理 · 十大战役</a:t>
            </a:r>
            <a:endParaRPr lang="en-US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CONTENTS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目录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5333878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2879" y="1266810"/>
            <a:ext cx="5333878" cy="419070"/>
          </a:xfrm>
          <a:prstGeom prst="roundRect">
            <a:avLst>
              <a:gd name="adj" fmla="val 8728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290" y="1304849"/>
            <a:ext cx="5067148" cy="3429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01   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综述：目的、逻辑与范围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2879" y="1704899"/>
            <a:ext cx="5333878" cy="419070"/>
          </a:xfrm>
          <a:prstGeom prst="roundRect">
            <a:avLst>
              <a:gd name="adj" fmla="val 8728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6290" y="1743029"/>
            <a:ext cx="5067148" cy="3429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02   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现状诊断：基础能力与核心问题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2879" y="2143079"/>
            <a:ext cx="5333878" cy="419070"/>
          </a:xfrm>
          <a:prstGeom prst="roundRect">
            <a:avLst>
              <a:gd name="adj" fmla="val 8728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6290" y="2181210"/>
            <a:ext cx="5067148" cy="3429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03   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监管动态与趋势（2026—2030）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2879" y="2581168"/>
            <a:ext cx="5333878" cy="419070"/>
          </a:xfrm>
          <a:prstGeom prst="roundRect">
            <a:avLst>
              <a:gd name="adj" fmla="val 8728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290" y="2619299"/>
            <a:ext cx="5067148" cy="3429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04   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方针原则与战略路径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2879" y="3019349"/>
            <a:ext cx="5333878" cy="419070"/>
          </a:xfrm>
          <a:prstGeom prst="roundRect">
            <a:avLst>
              <a:gd name="adj" fmla="val 8728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290" y="3057479"/>
            <a:ext cx="5067148" cy="3429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05   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十大战役框架（定义性文档）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2879" y="3457529"/>
            <a:ext cx="5333878" cy="419070"/>
          </a:xfrm>
          <a:prstGeom prst="roundRect">
            <a:avLst>
              <a:gd name="adj" fmla="val 8728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290" y="3495568"/>
            <a:ext cx="5067148" cy="3429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06   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2026年作战计划（夯实基础·攻坚评级）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2879" y="3895618"/>
            <a:ext cx="5333878" cy="419070"/>
          </a:xfrm>
          <a:prstGeom prst="roundRect">
            <a:avLst>
              <a:gd name="adj" fmla="val 8728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290" y="3933749"/>
            <a:ext cx="5067148" cy="3429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07   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2027年作战计划（深化体系·重点成型）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2879" y="4333799"/>
            <a:ext cx="5333878" cy="419070"/>
          </a:xfrm>
          <a:prstGeom prst="roundRect">
            <a:avLst>
              <a:gd name="adj" fmla="val 8728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290" y="4371838"/>
            <a:ext cx="5067148" cy="3429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08   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2028年作战计划（争创优良·全面成熟）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2879" y="4771888"/>
            <a:ext cx="5333878" cy="419070"/>
          </a:xfrm>
          <a:prstGeom prst="roundRect">
            <a:avLst>
              <a:gd name="adj" fmla="val 8728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290" y="4810018"/>
            <a:ext cx="5067148" cy="3429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09   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2029年作战计划（数字赋能·智能管控）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2879" y="5210068"/>
            <a:ext cx="5333878" cy="419070"/>
          </a:xfrm>
          <a:prstGeom prst="roundRect">
            <a:avLst>
              <a:gd name="adj" fmla="val 8728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290" y="5248107"/>
            <a:ext cx="5067148" cy="3429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10   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2030年作战计划（持续优化·长效治理）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2879" y="5648157"/>
            <a:ext cx="5333878" cy="419070"/>
          </a:xfrm>
          <a:prstGeom prst="roundRect">
            <a:avLst>
              <a:gd name="adj" fmla="val 8728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6290" y="5686288"/>
            <a:ext cx="5067148" cy="3429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11   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分工协作与三角联席机制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2879" y="6010168"/>
            <a:ext cx="5333878" cy="419070"/>
          </a:xfrm>
          <a:prstGeom prst="roundRect">
            <a:avLst>
              <a:gd name="adj" fmla="val 8728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6290" y="6048207"/>
            <a:ext cx="5067148" cy="3429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12   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保障机制（资源·考核·应急）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86317" y="1181039"/>
            <a:ext cx="5372009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24427" y="1381110"/>
            <a:ext cx="571591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3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核心数字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524427" y="1685879"/>
            <a:ext cx="2285909" cy="761970"/>
          </a:xfrm>
          <a:prstGeom prst="roundRect">
            <a:avLst>
              <a:gd name="adj" fmla="val 7200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24427" y="1762049"/>
            <a:ext cx="2285909" cy="3429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十大战役</a:t>
            </a:r>
            <a:endParaRPr lang="en-US" sz="1950" dirty="0"/>
          </a:p>
        </p:txBody>
      </p:sp>
      <p:sp>
        <p:nvSpPr>
          <p:cNvPr id="33" name="Text 31"/>
          <p:cNvSpPr/>
          <p:nvPr/>
        </p:nvSpPr>
        <p:spPr>
          <a:xfrm>
            <a:off x="6524427" y="2181210"/>
            <a:ext cx="2285909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覆盖8+2个监管评级维度</a:t>
            </a:r>
            <a:endParaRPr lang="en-US" sz="825" dirty="0"/>
          </a:p>
        </p:txBody>
      </p:sp>
      <p:sp>
        <p:nvSpPr>
          <p:cNvPr id="34" name="Shape 32"/>
          <p:cNvSpPr/>
          <p:nvPr/>
        </p:nvSpPr>
        <p:spPr>
          <a:xfrm>
            <a:off x="9153327" y="1685879"/>
            <a:ext cx="2285909" cy="761970"/>
          </a:xfrm>
          <a:prstGeom prst="roundRect">
            <a:avLst>
              <a:gd name="adj" fmla="val 7200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53327" y="1762049"/>
            <a:ext cx="2285909" cy="3429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五年周期</a:t>
            </a:r>
            <a:endParaRPr lang="en-US" sz="1950" dirty="0"/>
          </a:p>
        </p:txBody>
      </p:sp>
      <p:sp>
        <p:nvSpPr>
          <p:cNvPr id="36" name="Text 34"/>
          <p:cNvSpPr/>
          <p:nvPr/>
        </p:nvSpPr>
        <p:spPr>
          <a:xfrm>
            <a:off x="9153327" y="2181210"/>
            <a:ext cx="2285909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2026—2030 系统提升</a:t>
            </a:r>
            <a:endParaRPr lang="en-US" sz="825" dirty="0"/>
          </a:p>
        </p:txBody>
      </p:sp>
      <p:sp>
        <p:nvSpPr>
          <p:cNvPr id="37" name="Shape 35"/>
          <p:cNvSpPr/>
          <p:nvPr/>
        </p:nvSpPr>
        <p:spPr>
          <a:xfrm>
            <a:off x="6524427" y="2619299"/>
            <a:ext cx="2285909" cy="761970"/>
          </a:xfrm>
          <a:prstGeom prst="roundRect">
            <a:avLst>
              <a:gd name="adj" fmla="val 7200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24427" y="2695468"/>
            <a:ext cx="2285909" cy="3429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≥90%</a:t>
            </a:r>
            <a:endParaRPr lang="en-US" sz="1950" dirty="0"/>
          </a:p>
        </p:txBody>
      </p:sp>
      <p:sp>
        <p:nvSpPr>
          <p:cNvPr id="39" name="Text 37"/>
          <p:cNvSpPr/>
          <p:nvPr/>
        </p:nvSpPr>
        <p:spPr>
          <a:xfrm>
            <a:off x="6524427" y="3114629"/>
            <a:ext cx="2285909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各维度覆盖率目标</a:t>
            </a:r>
            <a:endParaRPr lang="en-US" sz="825" dirty="0"/>
          </a:p>
        </p:txBody>
      </p:sp>
      <p:sp>
        <p:nvSpPr>
          <p:cNvPr id="40" name="Shape 38"/>
          <p:cNvSpPr/>
          <p:nvPr/>
        </p:nvSpPr>
        <p:spPr>
          <a:xfrm>
            <a:off x="9153327" y="2619299"/>
            <a:ext cx="2285909" cy="761970"/>
          </a:xfrm>
          <a:prstGeom prst="roundRect">
            <a:avLst>
              <a:gd name="adj" fmla="val 7200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153327" y="2695468"/>
            <a:ext cx="2285909" cy="3429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≥95%</a:t>
            </a:r>
            <a:endParaRPr lang="en-US" sz="1950" dirty="0"/>
          </a:p>
        </p:txBody>
      </p:sp>
      <p:sp>
        <p:nvSpPr>
          <p:cNvPr id="42" name="Text 40"/>
          <p:cNvSpPr/>
          <p:nvPr/>
        </p:nvSpPr>
        <p:spPr>
          <a:xfrm>
            <a:off x="9153327" y="3114629"/>
            <a:ext cx="2285909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全员培训完成率（2026）</a:t>
            </a:r>
            <a:endParaRPr lang="en-US" sz="825" dirty="0"/>
          </a:p>
        </p:txBody>
      </p:sp>
      <p:sp>
        <p:nvSpPr>
          <p:cNvPr id="43" name="Text 41"/>
          <p:cNvSpPr/>
          <p:nvPr/>
        </p:nvSpPr>
        <p:spPr>
          <a:xfrm>
            <a:off x="6524427" y="3628979"/>
            <a:ext cx="4914809" cy="1107521"/>
          </a:xfrm>
          <a:prstGeom prst="rect">
            <a:avLst/>
          </a:prstGeom>
          <a:noFill/>
          <a:ln/>
        </p:spPr>
        <p:txBody>
          <a:bodyPr wrap="square" lIns="25400" tIns="0" rIns="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三大核心机制</a:t>
            </a:r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风险—科技—数据三角联席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：核心日常执行机制</a:t>
            </a:r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问题整改销号闭环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：全线上化任务追踪</a:t>
            </a:r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IT审计独立性保障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：第三道防线独立鉴证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524427" y="4905207"/>
            <a:ext cx="4914809" cy="1738000"/>
          </a:xfrm>
          <a:prstGeom prst="rect">
            <a:avLst/>
          </a:prstGeom>
          <a:noFill/>
          <a:ln/>
        </p:spPr>
        <p:txBody>
          <a:bodyPr wrap="square" lIns="25400" tIns="0" rIns="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五年演进主题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</a:t>
            </a:r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夯实基础·攻坚评级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2027</a:t>
            </a:r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深化体系·重点成型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2028</a:t>
            </a:r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争创优良·全面成熟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2029</a:t>
            </a:r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数字赋能·智能管控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2030</a:t>
            </a:r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持续优化·长效治理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46" name="Text 44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01</a:t>
            </a:r>
            <a:endParaRPr lang="en-US" sz="9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第一章 · 综述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制定目的与目标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3581339" cy="3066989"/>
          </a:xfrm>
          <a:prstGeom prst="roundRect">
            <a:avLst>
              <a:gd name="adj" fmla="val 1789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3370" y="1181039"/>
            <a:ext cx="358133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2950" y="1390620"/>
            <a:ext cx="3162178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2026年核心目标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2950" y="1676370"/>
            <a:ext cx="3162178" cy="249548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严格对照八大评级维度，以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深化落地、提升实质有效性、全面提升质量标尺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为主线，聚焦监管高频扣分项，推动评级从[当前级别]提升至[目标级别]，信息科技风险得分提升[目标分值]以上，助力全行综合监管评级升级。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</p:txBody>
      </p:sp>
      <p:sp>
        <p:nvSpPr>
          <p:cNvPr id="8" name="Shape 6"/>
          <p:cNvSpPr/>
          <p:nvPr/>
        </p:nvSpPr>
        <p:spPr>
          <a:xfrm>
            <a:off x="4305178" y="1181039"/>
            <a:ext cx="3581339" cy="3066989"/>
          </a:xfrm>
          <a:prstGeom prst="roundRect">
            <a:avLst>
              <a:gd name="adj" fmla="val 1789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05178" y="1181039"/>
            <a:ext cx="358133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14759" y="1390620"/>
            <a:ext cx="3162178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五年战略目标（至2030年）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14759" y="1676370"/>
            <a:ext cx="3162178" cy="249548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监管评级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稳定保持优良等级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，建立可持续运转的科技风险治理长效机制，实现从"底线合规"向"高质量治理"的持续转变，力争达到政策性银行同业先进水平。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</p:txBody>
      </p:sp>
      <p:sp>
        <p:nvSpPr>
          <p:cNvPr id="12" name="Shape 10"/>
          <p:cNvSpPr/>
          <p:nvPr/>
        </p:nvSpPr>
        <p:spPr>
          <a:xfrm>
            <a:off x="8076987" y="1181039"/>
            <a:ext cx="3581339" cy="3066989"/>
          </a:xfrm>
          <a:prstGeom prst="roundRect">
            <a:avLst>
              <a:gd name="adj" fmla="val 1789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76987" y="1181039"/>
            <a:ext cx="358133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86567" y="1390620"/>
            <a:ext cx="3162178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适用范围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86567" y="1676370"/>
            <a:ext cx="3162178" cy="249548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覆盖全行各部门、各分支机构。核心聚焦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信息科技部（含五个专业板块）、风险管理部、审计部、数据管理部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四大关键职能，明确业务部门协同职责。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</p:txBody>
      </p:sp>
      <p:sp>
        <p:nvSpPr>
          <p:cNvPr id="16" name="Shape 14"/>
          <p:cNvSpPr/>
          <p:nvPr/>
        </p:nvSpPr>
        <p:spPr>
          <a:xfrm>
            <a:off x="533370" y="4400459"/>
            <a:ext cx="11124956" cy="1904970"/>
          </a:xfrm>
          <a:prstGeom prst="roundRect">
            <a:avLst>
              <a:gd name="adj" fmla="val 1920"/>
            </a:avLst>
          </a:prstGeom>
          <a:solidFill>
            <a:srgbClr val="111C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3370" y="4400459"/>
            <a:ext cx="28529" cy="1904970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3839" y="4533778"/>
            <a:ext cx="10743926" cy="163823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方案立论起点：</a:t>
            </a:r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核心矛盾不在于"有没有"，而在于</a:t>
            </a:r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D94F4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底线思维过重</a:t>
            </a:r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——各项工作以满足监管最低要求为隐性目标，合规水平普遍接近监管底线。要从"基本合格"走向"优良"，必须在各维度上建立起</a:t>
            </a:r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超越底线的质量厚度</a:t>
            </a:r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723839" y="6191128"/>
            <a:ext cx="10743926" cy="163823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核心战略逻辑：</a:t>
            </a:r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将八大监管评级维度映射为十大战役，按强度分层推进——每年选定1—2个方向集中投入形成</a:t>
            </a:r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D94F4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重点突破</a:t>
            </a:r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，其余战役以</a:t>
            </a:r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3B7DD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底线保障</a:t>
            </a:r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或</a:t>
            </a:r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2BA8A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深化维护</a:t>
            </a:r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为定位，确保全维度覆盖的同时实现重点跨档提升。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02</a:t>
            </a:r>
            <a:endParaRPr lang="en-US" sz="9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第二章 · 现状诊断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现有基础能力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533370" y="1181039"/>
            <a:ext cx="11124956" cy="180960"/>
          </a:xfrm>
          <a:prstGeom prst="rect">
            <a:avLst/>
          </a:prstGeom>
          <a:noFill/>
          <a:ln/>
        </p:spPr>
        <p:txBody>
          <a:bodyPr wrap="square" lIns="25400" tIns="0" rIns="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本行已具备以下基础能力，本计划以此为起点推进深化与提升，而非重复建设。</a:t>
            </a:r>
            <a:endParaRPr lang="en-US" sz="975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70" y="1428750"/>
          <a:ext cx="11124956" cy="914400"/>
        </p:xfrm>
        <a:graphic>
          <a:graphicData uri="http://schemas.openxmlformats.org/drawingml/2006/table">
            <a:tbl>
              <a:tblPr/>
              <a:tblGrid>
                <a:gridCol w="2000159"/>
                <a:gridCol w="3708349"/>
                <a:gridCol w="1143000"/>
              </a:tblGrid>
              <a:tr h="3333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基础领域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现状描述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状态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</a:tr>
              <a:tr h="361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IT服务管理框架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ITIL/ISO 20000体系已实施，ITMIS平台（含事件、变更、配置管理模块）运行中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已认证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571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信息安全管理体系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ISMS/ISO 27001已通过认证，安全制度体系已建立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已认证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571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等级保护测评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重要系统已完成等保2.0测评并通过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已通过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571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密码测评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核心系统已完成商用密码应用安全性评估（密评）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已通过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571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安全运营与监控平台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SOC、漏洞扫描平台、态势感知平台、ITMIS运维平台已部署上线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已部署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571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终端与数据安全工具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终端安全管理平台（EDR/终端防护）、DLP（数据防泄漏）已部署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已部署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571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特权账号管理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特权账号管理平台（PAM）已上线，覆盖服务器、数据库等关键系统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已部署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571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容灾基础设施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容灾中心已建设，具备异地灾备能力，支撑RTO/RPO达标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已部署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571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边界防御设施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防火墙、IDS/IPS、WAF等边界防御设备已部署；网络及主机监控设施齐备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已部署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571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软件开发成熟度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CMMi 已通过评估（软件开发能力成熟度基础已具备）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已通过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7" name="Text 4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03</a:t>
            </a:r>
            <a:endParaRPr lang="en-US" sz="9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第二章 · 现状诊断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核心问题诊断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5372009" cy="2952689"/>
          </a:xfrm>
          <a:prstGeom prst="roundRect">
            <a:avLst>
              <a:gd name="adj" fmla="val 1858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3370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2950" y="1390620"/>
            <a:ext cx="4952848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问题一：底线思维过重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2950" y="1676370"/>
            <a:ext cx="4952848" cy="238118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基础框架已解决"有没有"，但在执行深度和实质有效性上普遍存在底线思维：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等保/密评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重在通过而非整改落地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安全设备的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检测视野盲区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普遍存在——超出默认配置的能力被忽略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各领域合规水平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普遍接近监管最低要求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</p:txBody>
      </p:sp>
      <p:sp>
        <p:nvSpPr>
          <p:cNvPr id="8" name="Shape 6"/>
          <p:cNvSpPr/>
          <p:nvPr/>
        </p:nvSpPr>
        <p:spPr>
          <a:xfrm>
            <a:off x="6286317" y="1181039"/>
            <a:ext cx="5372009" cy="2952689"/>
          </a:xfrm>
          <a:prstGeom prst="roundRect">
            <a:avLst>
              <a:gd name="adj" fmla="val 1858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86317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5898" y="1390620"/>
            <a:ext cx="4952848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问题二：少量真实缺口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5898" y="1676370"/>
            <a:ext cx="4952848" cy="238118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存在少量基础性缺口，如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数据治理层面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数据资产目录、数据分类分级等基础工作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尚未系统落地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对应战役八，2026年首要任务是评估现状并确定工作方向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具体缺口范围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有待核实确认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</p:txBody>
      </p:sp>
      <p:sp>
        <p:nvSpPr>
          <p:cNvPr id="12" name="Shape 10"/>
          <p:cNvSpPr/>
          <p:nvPr/>
        </p:nvSpPr>
        <p:spPr>
          <a:xfrm>
            <a:off x="533370" y="4286159"/>
            <a:ext cx="11124956" cy="2095439"/>
          </a:xfrm>
          <a:prstGeom prst="roundRect">
            <a:avLst>
              <a:gd name="adj" fmla="val 1746"/>
            </a:avLst>
          </a:prstGeom>
          <a:solidFill>
            <a:srgbClr val="111C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3370" y="4286159"/>
            <a:ext cx="28529" cy="209543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3839" y="4419478"/>
            <a:ext cx="10743926" cy="182870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对评级的影响判断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23839" y="6267298"/>
            <a:ext cx="10743926" cy="182870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当前各评级维度总体状态：</a:t>
            </a:r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「维度均有覆盖，执行多在边缘」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——底线思维虽可保持基本合格、避免明显失分，但缺乏显著高于监管基准的质量优势，导致评级难以实现跨档提升。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23839" y="8115117"/>
            <a:ext cx="10743926" cy="182870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要从"基本合格"走向"优良"，核心路径是：</a:t>
            </a:r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3AAD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全面提标保住基本分 + 重点突破推动评级跨档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。这正是本方案"十大战役·分层强度"设计的根本逻辑。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04</a:t>
            </a:r>
            <a:endParaRPr lang="en-US" sz="9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第三章 · 监管动态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监管政策演进与五年趋势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5333878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3440" y="1381110"/>
            <a:ext cx="4933828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2026年近期高确定性动向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3440" y="1590599"/>
            <a:ext cx="4933828" cy="9510"/>
          </a:xfrm>
          <a:prstGeom prst="rect">
            <a:avLst/>
          </a:prstGeom>
          <a:solidFill>
            <a:srgbClr val="2A2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3440" y="1714500"/>
            <a:ext cx="4933828" cy="182550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《金融科技发展规划（2026—2030年）》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：新一轮五年规划预计2026年发布，明确"人工智能+"深度应用方向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AI算法风险专项监管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：大模型备案管理、算法审计预计2025—2026年陆续落地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数据安全双规落地执法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：金规〔2024〕24号+人行令〔2025〕第3号，2026年是执法检查关键之年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信息科技风险管理指引修订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：历经15年未整体修订，预计新增AI治理专章、数据资产化框架等章节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48278" y="1181039"/>
            <a:ext cx="5410048" cy="2495489"/>
          </a:xfrm>
          <a:prstGeom prst="roundRect">
            <a:avLst>
              <a:gd name="adj" fmla="val 2199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8257" y="1381110"/>
            <a:ext cx="5009998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2027—2028年中期趋势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48257" y="1590599"/>
            <a:ext cx="5009998" cy="9510"/>
          </a:xfrm>
          <a:prstGeom prst="rect">
            <a:avLst/>
          </a:prstGeom>
          <a:solidFill>
            <a:srgbClr val="2A2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8257" y="1714500"/>
            <a:ext cx="5009998" cy="850392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AI算法审计常态化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：成为信息科技审计的常规检查项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密评覆盖率要求提升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：覆盖范围向重要业务系统扩展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数字金融能力评估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：科技投入产出比纳入综合评价视野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48278" y="3847978"/>
            <a:ext cx="5410048" cy="2495489"/>
          </a:xfrm>
          <a:prstGeom prst="roundRect">
            <a:avLst>
              <a:gd name="adj" fmla="val 2199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8257" y="4048049"/>
            <a:ext cx="5009998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2029—2030年长期趋势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48257" y="4257538"/>
            <a:ext cx="5009998" cy="9510"/>
          </a:xfrm>
          <a:prstGeom prst="rect">
            <a:avLst/>
          </a:prstGeom>
          <a:solidFill>
            <a:srgbClr val="2A2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8257" y="4381348"/>
            <a:ext cx="5009998" cy="1070305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实时监管与穿透监管全面建成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：EAST系统向实时采集演进，银行需具备监管数据自动采集能力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AI伦理治理框架成熟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：AI伦理委员会将成为标配治理架构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数据资产化体系完善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：数据资产入表细则落地，金融数据流通交易规则明确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05</a:t>
            </a:r>
            <a:endParaRPr lang="en-US" sz="9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第四章 · 方针原则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八大核心原则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5372009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2460" y="1400129"/>
            <a:ext cx="4933828" cy="2045421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超越底线，质量优先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：以"实质有效"而非"形式达标"为交付标准；优先采用"深化、提升、落地"，而非"建设、新增、发布"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提标聚焦，重点突破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：每年有意识地选定方向集中投入，形成显著优于监管基准的质量优势；全面提标保住基本分，重点突破推动评级跨档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对标监管，全量覆盖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：以八大评级维度为基准坐标系，建立"评级维度—战役—任务—交付物"四级映射，不留覆盖盲区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协同联动，打破壁垒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：以三大核心协作机制为抓手，推动信息科技部各专业板块与风险、审计、数据管理及业务部门高效联动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286317" y="1181039"/>
            <a:ext cx="5372009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05407" y="1400129"/>
            <a:ext cx="4933828" cy="2045421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务实落地，量化可考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：所有战役任务明确"牵头板块+协同部门+交付物+量化验收标准+完成时限"，每项工作均有可穿透验证的量化标准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机制兜底，闭环管控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：以"整改销号"机制为保障，强化审计独立验证，形成"发现—认领—整改—验证—销号"全闭环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聚焦提升，证据先行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：优先启动需要长周期积累执行记录的维度（开发测试管理、运行管理），确保迎检时有充足、连续的过程证据链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跟踪监管，动态优化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：以年度复盘和监管政策跟踪为驱动，滚动调整各年度目标，确保计划始终对准监管前沿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06</a:t>
            </a:r>
            <a:endParaRPr lang="en-US" sz="9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第四章 · 战略路径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五年演进路径与关键指标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2000159" cy="952439"/>
          </a:xfrm>
          <a:prstGeom prst="roundRect">
            <a:avLst>
              <a:gd name="adj" fmla="val 4800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1500" y="1381110"/>
            <a:ext cx="1923989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2026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71500" y="1609710"/>
            <a:ext cx="1923989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夯实基础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571500" y="1800179"/>
            <a:ext cx="1923989" cy="1524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攻坚评级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647920" y="1181039"/>
            <a:ext cx="285750" cy="95243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047970" y="1181039"/>
            <a:ext cx="2000159" cy="952439"/>
          </a:xfrm>
          <a:prstGeom prst="roundRect">
            <a:avLst>
              <a:gd name="adj" fmla="val 4800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86009" y="1381110"/>
            <a:ext cx="1923989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2027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086009" y="1609710"/>
            <a:ext cx="1923989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深化体系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3086009" y="1800179"/>
            <a:ext cx="1923989" cy="1524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重点成型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5162428" y="1181039"/>
            <a:ext cx="285750" cy="95243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562478" y="1181039"/>
            <a:ext cx="2000159" cy="952439"/>
          </a:xfrm>
          <a:prstGeom prst="roundRect">
            <a:avLst>
              <a:gd name="adj" fmla="val 4800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00517" y="1381110"/>
            <a:ext cx="1923989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2028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00517" y="1609710"/>
            <a:ext cx="1923989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争创优良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5600517" y="1800179"/>
            <a:ext cx="1923989" cy="1524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全面成熟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7676937" y="1181039"/>
            <a:ext cx="285750" cy="95243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076987" y="1181039"/>
            <a:ext cx="2000159" cy="952439"/>
          </a:xfrm>
          <a:prstGeom prst="roundRect">
            <a:avLst>
              <a:gd name="adj" fmla="val 4800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15117" y="1381110"/>
            <a:ext cx="1923989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2029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115117" y="1609710"/>
            <a:ext cx="1923989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数字赋能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8115117" y="1800179"/>
            <a:ext cx="1923989" cy="1524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智能管控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0191537" y="1181039"/>
            <a:ext cx="285750" cy="95243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10591495" y="1181039"/>
            <a:ext cx="1066739" cy="952439"/>
          </a:xfrm>
          <a:prstGeom prst="roundRect">
            <a:avLst>
              <a:gd name="adj" fmla="val 4800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629626" y="1381110"/>
            <a:ext cx="990570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2030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629626" y="1609710"/>
            <a:ext cx="990570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持续优化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10629626" y="1800179"/>
            <a:ext cx="990570" cy="1524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长效治理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33370" y="2285909"/>
            <a:ext cx="1371691" cy="171450"/>
          </a:xfrm>
          <a:prstGeom prst="rect">
            <a:avLst/>
          </a:prstGeom>
          <a:noFill/>
          <a:ln/>
        </p:spPr>
        <p:txBody>
          <a:bodyPr wrap="square" lIns="25400" tIns="0" rIns="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五年关键量化指标演进目标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70" y="2476470"/>
          <a:ext cx="11124956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2571659"/>
                <a:gridCol w="2285909"/>
                <a:gridCol w="2285909"/>
                <a:gridCol w="2285909"/>
              </a:tblGrid>
              <a:tr h="3333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指标类别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指标名称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2026基准建立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2028目标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2030目标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</a:tr>
              <a:tr h="3452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系统可用性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核心系统年度可用率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建立基准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 99.95%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 99.99%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安全基线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SAST/DAST扫描闭环整改率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建立基准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 95%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 99%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灾备能力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RTO/RPO演练达标率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建立基准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 90%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100%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安全漏洞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高危漏洞平均修复周期（天）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建立基准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≤ 15天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≤ 7天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风险管控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KRI超阈值未处置率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KRI质量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KRI自动采集覆盖率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建立基准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 80%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 95%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监管评级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信息科技风险监管评级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攻坚提级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良好等级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优良等级稳定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</a:tbl>
          </a:graphicData>
        </a:graphic>
      </p:graphicFrame>
      <p:sp>
        <p:nvSpPr>
          <p:cNvPr id="30" name="Text 27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31" name="Text 28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07</a:t>
            </a:r>
            <a:endParaRPr lang="en-US" sz="9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第四章 · 战略路径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监管评级维度 → 十大战役映射</a:t>
            </a:r>
            <a:endParaRPr lang="en-US" sz="22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70" y="1181039"/>
          <a:ext cx="11124956" cy="914400"/>
        </p:xfrm>
        <a:graphic>
          <a:graphicData uri="http://schemas.openxmlformats.org/drawingml/2006/table">
            <a:tbl>
              <a:tblPr/>
              <a:tblGrid>
                <a:gridCol w="2190720"/>
                <a:gridCol w="2952689"/>
                <a:gridCol w="1428750"/>
                <a:gridCol w="3314609"/>
                <a:gridCol w="1047720"/>
              </a:tblGrid>
              <a:tr h="3333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监管评级维度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主责战役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主要落实年份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牵头责任部门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覆盖率目标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</a:tr>
              <a:tr h="3452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D1 信息科技治理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战役一：治理架构与履职深化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2026—2027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信息科技部·风险管理-制度处 / 风险管理部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≥90%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D2 信息科技风险管理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战役二：IT风险管理体系深化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2026—2030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信息科技部·风险管理-制度处 / 风险管理部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≥90%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D3 信息安全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战役三：信息安全深化攻坚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2026—2029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信息科技部·网络安全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≥90%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D4 开发测试维护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战役四：开发测试安全基线提升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2026—2028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信息科技部·开发测试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≥90%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D5 信息科技运行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战役五：IT运行管理深化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2026—2027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信息科技部·系统运行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≥90%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D6 业务连续性管理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战役六：业务连续性与灾备实战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2026—2030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信息科技部·系统运行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≥95%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D7 外包管理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战役七：供应链安全与外包管理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2026—2028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信息科技部·规划/科技资源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≥90%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D8 信息科技审计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独立保障机制（贯穿全计划）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2026—2030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审计部（独立）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≥90%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数据治理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战役八：数据治理与隐私保护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2026—2027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数据管理部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≥90%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前瞻性风险防范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战役九：新技术应用与AI安全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2026—2030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信息科技部·风险管理-制度处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建立基础框架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人才与文化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战役十：人才队伍与文化培育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2026—2030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≥90%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6" name="Text 3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08</a:t>
            </a:r>
            <a:endParaRPr lang="en-US" sz="9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第四章 · 战略路径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十大战役 × 五年强度矩阵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533370" y="1181039"/>
            <a:ext cx="3862608" cy="171450"/>
          </a:xfrm>
          <a:prstGeom prst="rect">
            <a:avLst/>
          </a:prstGeom>
          <a:noFill/>
          <a:ln/>
        </p:spPr>
        <p:txBody>
          <a:bodyPr wrap="square" lIns="25400" tIns="0" rIns="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dirty="0">
                <a:solidFill>
                  <a:srgbClr val="FF8A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攻坚·重点突破</a:t>
            </a:r>
            <a:pPr algn="l" indent="0" marL="0">
              <a:lnSpc>
                <a:spcPct val="140000"/>
              </a:lnSpc>
              <a:buNone/>
            </a:pPr>
            <a:r>
              <a:rPr lang="en-US" sz="82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重点突破</a:t>
            </a:r>
            <a:pPr algn="l" indent="0" marL="0">
              <a:lnSpc>
                <a:spcPct val="140000"/>
              </a:lnSpc>
              <a:buNone/>
            </a:pPr>
            <a:r>
              <a:rPr lang="en-US" sz="825" b="1" dirty="0">
                <a:solidFill>
                  <a:srgbClr val="2BA8A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深化</a:t>
            </a:r>
            <a:pPr algn="l" indent="0" marL="0">
              <a:lnSpc>
                <a:spcPct val="140000"/>
              </a:lnSpc>
              <a:buNone/>
            </a:pPr>
            <a:r>
              <a:rPr lang="en-US" sz="825" b="1" dirty="0">
                <a:solidFill>
                  <a:srgbClr val="3B7DD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底线保障</a:t>
            </a:r>
            <a:pPr algn="l" indent="0" marL="0">
              <a:lnSpc>
                <a:spcPct val="140000"/>
              </a:lnSpc>
              <a:buNone/>
            </a:pPr>
            <a:r>
              <a:rPr lang="en-US" sz="825" b="1" dirty="0">
                <a:solidFill>
                  <a:srgbClr val="3AAD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成熟</a:t>
            </a:r>
            <a:pPr algn="l" indent="0" marL="0">
              <a:lnSpc>
                <a:spcPct val="140000"/>
              </a:lnSpc>
              <a:buNone/>
            </a:pPr>
            <a:r>
              <a:rPr lang="en-US" sz="825" b="1" dirty="0">
                <a:solidFill>
                  <a:srgbClr val="6CE89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领先/长效</a:t>
            </a:r>
            <a:pPr algn="l" indent="0" marL="0">
              <a:lnSpc>
                <a:spcPct val="140000"/>
              </a:lnSpc>
              <a:buNone/>
            </a:pPr>
            <a:r>
              <a:rPr lang="en-US" sz="825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待确认</a:t>
            </a:r>
            <a:endParaRPr lang="en-US" sz="825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70" y="1409639"/>
          <a:ext cx="11124956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3238439"/>
                <a:gridCol w="1333470"/>
                <a:gridCol w="1333470"/>
                <a:gridCol w="1333470"/>
                <a:gridCol w="1333470"/>
                <a:gridCol w="1333470"/>
              </a:tblGrid>
              <a:tr h="3333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主责部门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2027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2028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2029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2030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</a:tr>
              <a:tr h="3452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战役一·治理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信息科技部·风险管理-制度处 / 风险管理部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底线保障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成熟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适应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6CE89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长效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1E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战役二·风险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信息科技部·风险管理-制度处 / 风险管理部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F8A8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攻坚·突破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5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E8CC6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重点突破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E8CC6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重点突破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E8CC6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重点突破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14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战役三·安全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信息科技部·网络安全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F8A8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攻坚·突破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5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智能化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6CE89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领先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1E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战役四·开发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信息科技部·开发测试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底线保障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E8CC6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重点突破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成熟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持续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6CE89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领先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1E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战役五·运行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信息科技部·系统运行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底线保障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成熟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赋能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6CE89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长效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1E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战役六·灾备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信息科技部·系统运行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E8CC6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重点突破候选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成熟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扩展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6CE89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长效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1E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战役七·外包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信息科技部·规划/科技资源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底线保障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成熟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深控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6CE89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长效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1E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战役八·数据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数据管理部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E08A3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待确认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1E1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成熟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E8CC6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重点突破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6CE89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引领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1E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战役九·AI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信息科技部·风险管理-制度处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底线保障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6CE89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输出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1E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战役十·人才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底线保障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成熟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持续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6CE89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领先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1E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7" name="Text 4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09</a:t>
            </a:r>
            <a:endParaRPr lang="en-US" sz="9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第五章 · 十大战役框架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战役一·治理架构 &amp; 战役二·风险管理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5372009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3370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2950" y="1390620"/>
            <a:ext cx="4952848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战役一：治理架构与履职深化（D1）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2950" y="1676370"/>
            <a:ext cx="4952848" cy="459092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战役定位：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IT治理基础架构均已具备；核心在于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履职记录的完整性与可查验性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——检查时能否拿出连续完整的会议纪要、CIO汇报记录、岗位分离执行台账。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2026强度：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3B7DD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底线保障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CIO履职记录制度化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：统一汇报模板，确保每次汇报留有可迎检的完整记录台账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IT管委会运作规范化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：标准化议题设置和纪要格式，决策有追踪、落实有验证（≥4次/年）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岗位职责分离落地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：逐人核查开发/测试/运维三类岗位实际权限配置，消除交叉点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IT战略规划年度对齐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：设置每年Q4的战略对齐审查节点，对执行偏差逐项记录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科技风险纳入全面风险管理框架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：明确报告路径与格式标准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863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典型交付物：</a:t>
            </a:r>
            <a:pPr algn="l" indent="0" marL="0">
              <a:lnSpc>
                <a:spcPct val="165000"/>
              </a:lnSpc>
              <a:buNone/>
            </a:pPr>
            <a:r>
              <a:rPr lang="en-US" sz="863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《CIO岗位职责说明书》、《岗位职责分离矩阵》、IT管理委员会季度会议纪要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</p:txBody>
      </p:sp>
      <p:sp>
        <p:nvSpPr>
          <p:cNvPr id="8" name="Shape 6"/>
          <p:cNvSpPr/>
          <p:nvPr/>
        </p:nvSpPr>
        <p:spPr>
          <a:xfrm>
            <a:off x="6286317" y="1181039"/>
            <a:ext cx="5372009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86317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5898" y="1390620"/>
            <a:ext cx="4952848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战役二：IT风险管理体系深化（D2）★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5898" y="1676370"/>
            <a:ext cx="4952848" cy="459092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战役定位：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构建量化、可视、闭环的IT风险管理体系，从"有制度有框架"升级到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"数据真实、指标有效、预警及时"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；持续积累高质量数据，支撑2030年科技风险量化预测模型。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2026强度：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FF8A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攻坚·重点突破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KRI指标体系优化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：逐指标审查采集路径，按季度推进自动化；目标：≥30个指标，自动采集率≥60%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年度全行风险评估（RCSA）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：细化方法论，按系统重要性分批执行，覆盖率100%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分层分级风险报告体系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：细化运营层/管理层/决策层报告模板，逐批次核查报告质量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风险事件管理与损失数据积累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：统一事件分类，强化"记录→损失统计→根因分析→经验固化"全流程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工具平台深化应用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：逐模块激活ITMIS/SOC"已配置但未使用"功能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863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五年突破路径：</a:t>
            </a:r>
            <a:pPr algn="l" indent="0" marL="0">
              <a:lnSpc>
                <a:spcPct val="165000"/>
              </a:lnSpc>
              <a:buNone/>
            </a:pPr>
            <a:r>
              <a:rPr lang="en-US" sz="863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2026→KRI基础 → 2028→内部模拟检查 → 2030→量化预测模型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10</a:t>
            </a:r>
            <a:endParaRPr lang="en-US" sz="9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第五章 · 十大战役框架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战役三·信息安全 &amp; 战役四·开发测试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5372009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3370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2950" y="1390620"/>
            <a:ext cx="4952848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战役三：信息安全深化攻坚（D3）★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2950" y="1676370"/>
            <a:ext cx="4952848" cy="459092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战役定位：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在ISMS/等保/密评已通过基础上，重点提升安全体系的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执行实质性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——激活现有安全产品完整功能（消除"已购未用"），以穿透检查通过为验收标准。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2026强度：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FF8A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攻坚·重点突破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安全产品功能激活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：逐产品梳理"已购功能 vs 实际启用"，分批激活；目标：核心功能启用率≥80%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PAM特权账号管理深化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：共享账号清零；特权操作100%可审计；离场权限即时注销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漏洞管理深化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：扩展扫描覆盖面，完善按严重程度分级的整改期限管控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安全基线管理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：为各类系统制定严于厂商默认的安全基线标准，部署自动化检测工具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数据安全双规合规整改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：逐条评估金规〔2024〕24号和人行令〔2025〕第3号差距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</p:txBody>
      </p:sp>
      <p:sp>
        <p:nvSpPr>
          <p:cNvPr id="8" name="Shape 6"/>
          <p:cNvSpPr/>
          <p:nvPr/>
        </p:nvSpPr>
        <p:spPr>
          <a:xfrm>
            <a:off x="6286317" y="1181039"/>
            <a:ext cx="5372009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86317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5898" y="1390620"/>
            <a:ext cx="4952848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战役四：开发测试安全基线提升（D4）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5898" y="1676370"/>
            <a:ext cx="4952848" cy="459092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战役定位：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制度框架与流程已具备，核心问题是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安全基线质量标尺系统性偏低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——SAST/DAST以默认规则运行、以"无高危即通过"为标准；以DevSecOps成熟度提升为中期重点突破目标。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2026强度：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3B7DD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底线保障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2027重点突破：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重点突破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SAST/DAST扫描规则深化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：针对主要系统类型细化规则集，将中危以上漏洞纳入强制整改范围；目标：闭环整改率≥90%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SDLC安全门禁落实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：将"评审通过"设为进入下一阶段的前置条件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测试环境数据脱敏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：存量清零，增量自动化；核心目标：真实数据清零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DevSecOps流水线推进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：2027重点突破，覆盖主要项目≥60%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SCA软件成分分析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：对主要存量系统开展组件依赖扫描，维护高危组件风险台账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11</a:t>
            </a:r>
            <a:endParaRPr lang="en-US" sz="9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第五章 · 十大战役框架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战役五·IT运行 &amp; 战役六·业务连续性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5372009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3370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2950" y="1390620"/>
            <a:ext cx="4952848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战役五：IT运行管理深化（D5）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2950" y="1676370"/>
            <a:ext cx="4952848" cy="459092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战役定位：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在ITMIS平台已运行基础上，聚焦提升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平台内数据质量与流程执行深度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；覆盖事件、问题、CMDB、容量、监控告警、批处理与日志六个子方向，以连续完整的执行记录为迎检基础（证据链不可中断）。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2026强度：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3B7DD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底线保障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事故管理与RCA质量提升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：细化RCA报告模板，月度统计按时完成率（5工作日内100%完成）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问题管理独立运作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：在ITMIS中单独配置问题工单类型，规定触发条件，强化根因消除全流程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CMDB自动发现与准确性提升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：逐类型推进自动发现改造；2026目标：准确率≥95%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监控告警质量优化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：虚假告警率≤5%；有效告警处置率提升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批处理监控与日志管理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：全量批处理监控；核心系统日志≥1年留存合规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863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关键红线：</a:t>
            </a:r>
            <a:pPr algn="l" indent="0" marL="0">
              <a:lnSpc>
                <a:spcPct val="165000"/>
              </a:lnSpc>
              <a:buNone/>
            </a:pPr>
            <a:r>
              <a:rPr lang="en-US" sz="863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P1/P2 RCA完成率100%；事件台账积累≥6个月；批处理监控覆盖率100%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</p:txBody>
      </p:sp>
      <p:sp>
        <p:nvSpPr>
          <p:cNvPr id="8" name="Shape 6"/>
          <p:cNvSpPr/>
          <p:nvPr/>
        </p:nvSpPr>
        <p:spPr>
          <a:xfrm>
            <a:off x="6286317" y="1181039"/>
            <a:ext cx="5372009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86317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5898" y="1390620"/>
            <a:ext cx="4952848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战役六：业务连续性与灾备实战（D6）★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5898" y="1676370"/>
            <a:ext cx="4952848" cy="459092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战役定位：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以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演练质量的跃升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为核心——从"重大灾难全切换"的脚本式演练，升级为针对数据库单点、核心中间件崩溃、网络分区等真实高发场景的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场景化重大故障应急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2026强度：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重点突破候选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BIA执行与更新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：细化方法论，逐系统明确RTO/RPO目标值，经高管层正式确认；目标：2026年完成全行BIA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场景化演练设计与执行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：基于BIA识别高概率独立故障场景，执行时无预告，演练后48小时内复盘；目标：≥3个独立场景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备份数据可恢复性验证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：每年对全量核心系统执行实际恢复测试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审计部独立鉴证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：审计部全程现场见证，出具鉴证报告（防止脚本化演练）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外部系统联合演练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：与支付清算、央行等推进首次联合演练；目标：≥1次/年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12</a:t>
            </a:r>
            <a:endParaRPr lang="en-US" sz="97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第五章 · 十大战役框架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战役七·供应链安全 &amp; 战役八·数据治理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5372009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3370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2950" y="1390620"/>
            <a:ext cx="4952848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战役七：供应链安全与外包管理（D7）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2950" y="1676370"/>
            <a:ext cx="4952848" cy="459092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战役定位：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外包基础制度框架成熟，例行维持即可；本战役聚焦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供应链安全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——软件供应链（开源组件漏洞）和服务供应链（关键第三方API依赖深度）是当前管控能力薄弱的真实风险所在。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2026强度：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3B7DD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底线保障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第三方软件与服务依赖清单完善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：梳理主要应用系统第三方依赖（商业软件+开源库+关键API），记录版本与已知漏洞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供应商安全基线评估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：在年度供应商复评中强制纳入安全专项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关键服务依赖可替代性分析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：识别高风险依赖，制定高优先级替换或双活计划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SBOM软件物料清单推进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：2028年建立覆盖核心系统的SBOM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外包基础管理例行维持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：离场权限48h内回收率100%；代码安全审查100%覆盖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</p:txBody>
      </p:sp>
      <p:sp>
        <p:nvSpPr>
          <p:cNvPr id="8" name="Shape 6"/>
          <p:cNvSpPr/>
          <p:nvPr/>
        </p:nvSpPr>
        <p:spPr>
          <a:xfrm>
            <a:off x="6286317" y="1181039"/>
            <a:ext cx="5372009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86317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5898" y="1390620"/>
            <a:ext cx="4952848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战役八：数据治理与隐私保护（数据治理）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5898" y="1676370"/>
            <a:ext cx="4952848" cy="459092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战役定位：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数据治理基础缺口有待确认（2025年部分工作已启动但未落实到系统层面）。若确认缺口存在，2026年完成数据资产目录系统落地；若基本具备，重点转向数据分类分级精细度与数据质量管控的实质有效性。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2026强度：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待确认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2029突破：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重点突破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数据资产目录建立与维护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：制定数据资产盘点方法论；目标：覆盖率≥95%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数据分类分级精细化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：对照金规〔2024〕24号，完成精细化重新标注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数据质量月度检核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：建立检核规则集（完整性、准确性、一致性、及时性），每月出具报告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个人信息保护合规审计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：梳理个人信息处理场景清单，逐项评估合规差距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数据血缘追踪建设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：2026年启动建设，2027年完善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13</a:t>
            </a:r>
            <a:endParaRPr lang="en-US" sz="97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第五章 · 十大战役框架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战役九·新技术AI &amp; 战役十·人才文化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5372009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3370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2950" y="1390620"/>
            <a:ext cx="4952848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战役九：新技术应用与AI安全（前瞻防范）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2950" y="1676370"/>
            <a:ext cx="4952848" cy="459092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战役定位：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防范AI、云等新技术应用带来的新型风险，建立新技术风险管控基础框架，满足AI算法风险监管的前瞻性要求；随AI治理标准成熟，逐步深化为行业可参考实践成果。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2026强度：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3B7DD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底线保障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2030：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6CE89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输出行业参考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新技术风险评估框架落地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：制定适用于AI/云的统一评估框架（技术成熟度、监管合规、安全风险、数据合规、应急退出五维度），将评估审批作为上线强制前置步骤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AI模型全生命周期管理制度落地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：起草AI模型管理制度（准入→上线→运行监控→版本变更→退出处置）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AI模型安全测试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：对高风险AI模型开展对抗样本、数据投毒、模型提取攻击等安全测试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算法备案准备与可解释性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：为每个在用算法模型准备功能描述和决策逻辑说明文档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云应用安全评估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：细化标准，在引入前强制执行评估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</p:txBody>
      </p:sp>
      <p:sp>
        <p:nvSpPr>
          <p:cNvPr id="8" name="Shape 6"/>
          <p:cNvSpPr/>
          <p:nvPr/>
        </p:nvSpPr>
        <p:spPr>
          <a:xfrm>
            <a:off x="6286317" y="1181039"/>
            <a:ext cx="5372009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86317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5898" y="1390620"/>
            <a:ext cx="4952848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战役十：人才队伍与文化培育（跨维度支撑）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5898" y="1676370"/>
            <a:ext cx="4952848" cy="459092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战役定位：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真正的挑战在于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激活效能与建立风险文化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——将科技风险意识从培训覆盖推向行为改变，以钓鱼演练点击率、年度培训完成率、安全事件重复发生率等可量化指标衡量文化成效。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2026强度：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3B7DD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底线保障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全员信息安全意识培训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：统一培训内容与当年重点风险领域匹配，完成率纳入绩效考核；目标：完成率≥95%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钓鱼演练机制落地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：每年至少2次、无预告，统计点击率，对点击人员强制针对培训；目标：点击率逐次下降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关键岗位能力培养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：为信息安全/IT审计/数据安全等关键岗位细化能力画像，制定内训+外训+实战路径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科技风险KPI落地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：与风险管理部联合设计绩效指标体系，明确权重（信息科技部30%由风险管理部打分）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双向挂职落实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：2027年落实首批风险←→科技双向挂职（≥2人）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14</a:t>
            </a:r>
            <a:endParaRPr lang="en-US" sz="97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第六章 · 2026年作战计划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夯实基础·攻坚评级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11124956" cy="628650"/>
          </a:xfrm>
          <a:prstGeom prst="roundRect">
            <a:avLst>
              <a:gd name="adj" fmla="val 5818"/>
            </a:avLst>
          </a:prstGeom>
          <a:solidFill>
            <a:srgbClr val="111C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3370" y="1181039"/>
            <a:ext cx="28529" cy="628650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3839" y="1314450"/>
            <a:ext cx="1074392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年度主题：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突破底线思维，激活现有能力；补齐唯一真正空白；以重点突破驱动评级跨档。</a:t>
            </a:r>
            <a:pPr algn="l" indent="0" marL="0">
              <a:lnSpc>
                <a:spcPct val="140000"/>
              </a:lnSpc>
              <a:buNone/>
            </a:pPr>
            <a:r>
              <a:rPr lang="en-US" sz="938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重点突破候选：</a:t>
            </a:r>
            <a:pPr algn="l" indent="0" marL="0">
              <a:lnSpc>
                <a:spcPct val="140000"/>
              </a:lnSpc>
              <a:buNone/>
            </a:pPr>
            <a:r>
              <a:rPr lang="en-US" sz="938" b="1" dirty="0">
                <a:solidFill>
                  <a:srgbClr val="FF8A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战役二</a:t>
            </a:r>
            <a:pPr algn="l" indent="0" marL="0">
              <a:lnSpc>
                <a:spcPct val="140000"/>
              </a:lnSpc>
              <a:buNone/>
            </a:pPr>
            <a:r>
              <a:rPr lang="en-US" sz="938" b="1" dirty="0">
                <a:solidFill>
                  <a:srgbClr val="FF8A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战役三</a:t>
            </a:r>
            <a:pPr algn="l" indent="0" marL="0">
              <a:lnSpc>
                <a:spcPct val="140000"/>
              </a:lnSpc>
              <a:buNone/>
            </a:pPr>
            <a:r>
              <a:rPr lang="en-US" sz="938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战役六</a:t>
            </a:r>
            <a:endParaRPr lang="en-US" sz="938" dirty="0"/>
          </a:p>
        </p:txBody>
      </p:sp>
      <p:sp>
        <p:nvSpPr>
          <p:cNvPr id="7" name="Shape 5"/>
          <p:cNvSpPr/>
          <p:nvPr/>
        </p:nvSpPr>
        <p:spPr>
          <a:xfrm>
            <a:off x="533370" y="1981139"/>
            <a:ext cx="2666939" cy="1714500"/>
          </a:xfrm>
          <a:prstGeom prst="roundRect">
            <a:avLst>
              <a:gd name="adj" fmla="val 3200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3370" y="1981139"/>
            <a:ext cx="266693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2950" y="2190720"/>
            <a:ext cx="2247870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Q1 · 机制启动·基础先行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42950" y="2476470"/>
            <a:ext cx="2247870" cy="11430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发布三大协作机制；搭建整改销号平台；各部门完成差距分析；启动战役二KRI优化、战役三安全产品清单梳理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</p:txBody>
      </p:sp>
      <p:sp>
        <p:nvSpPr>
          <p:cNvPr id="11" name="Shape 9"/>
          <p:cNvSpPr/>
          <p:nvPr/>
        </p:nvSpPr>
        <p:spPr>
          <a:xfrm>
            <a:off x="3352739" y="1981139"/>
            <a:ext cx="2666939" cy="1714500"/>
          </a:xfrm>
          <a:prstGeom prst="roundRect">
            <a:avLst>
              <a:gd name="adj" fmla="val 3200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52739" y="1981139"/>
            <a:ext cx="266693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2228" y="2190720"/>
            <a:ext cx="2247870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Q2 · 全力攻坚·成果积累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62228" y="2476470"/>
            <a:ext cx="2247870" cy="11430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战役二（KRI完善、全行风险评估100%）；战役三（安全产品激活推进、PAM深化）；战役六（BIA完成、场景演练设计）；战役八（数据资产目录落地）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</p:txBody>
      </p:sp>
      <p:sp>
        <p:nvSpPr>
          <p:cNvPr id="15" name="Shape 13"/>
          <p:cNvSpPr/>
          <p:nvPr/>
        </p:nvSpPr>
        <p:spPr>
          <a:xfrm>
            <a:off x="6172017" y="1981139"/>
            <a:ext cx="2666939" cy="1714500"/>
          </a:xfrm>
          <a:prstGeom prst="roundRect">
            <a:avLst>
              <a:gd name="adj" fmla="val 3200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72017" y="1981139"/>
            <a:ext cx="266693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81598" y="2190720"/>
            <a:ext cx="2247870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Q3 · 深度攻坚·核心验收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81598" y="2476470"/>
            <a:ext cx="2247870" cy="11430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战役三（红蓝对抗·无预告）；战役六（场景化演练执行≥3个场景）；战役八（数据血缘追踪、个人信息保护差距分析）；审计部同步过程审计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</p:txBody>
      </p:sp>
      <p:sp>
        <p:nvSpPr>
          <p:cNvPr id="19" name="Shape 17"/>
          <p:cNvSpPr/>
          <p:nvPr/>
        </p:nvSpPr>
        <p:spPr>
          <a:xfrm>
            <a:off x="8991387" y="1981139"/>
            <a:ext cx="2666939" cy="1714500"/>
          </a:xfrm>
          <a:prstGeom prst="roundRect">
            <a:avLst>
              <a:gd name="adj" fmla="val 3200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91387" y="1981139"/>
            <a:ext cx="266693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00876" y="2190720"/>
            <a:ext cx="2247870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Q4 · 固化迎检·证据冲刺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200876" y="2476470"/>
            <a:ext cx="2247870" cy="11430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整理证据链档案；审计部"整改回头看"全面审计；外部审计机构独立复核；模拟监管进场访谈；向董事会汇报全年成效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533370" y="3847978"/>
            <a:ext cx="3086191" cy="171450"/>
          </a:xfrm>
          <a:prstGeom prst="rect">
            <a:avLst/>
          </a:prstGeom>
          <a:noFill/>
          <a:ln/>
        </p:spPr>
        <p:txBody>
          <a:bodyPr wrap="square" lIns="25400" tIns="0" rIns="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底线保障战役（战役一、四、五、七、九、十）年度关键红线</a:t>
            </a:r>
            <a:endParaRPr lang="en-US" sz="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70" y="4038539"/>
          <a:ext cx="11124956" cy="914400"/>
        </p:xfrm>
        <a:graphic>
          <a:graphicData uri="http://schemas.openxmlformats.org/drawingml/2006/table">
            <a:tbl>
              <a:tblPr/>
              <a:tblGrid>
                <a:gridCol w="723839"/>
                <a:gridCol w="2857409"/>
                <a:gridCol w="4457609"/>
                <a:gridCol w="2857409"/>
              </a:tblGrid>
              <a:tr h="3333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2026年底线目标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关键红线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关键交付物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</a:tr>
              <a:tr h="3452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战役一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基础治理达标，以迎检通过为目标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CIO履职记录完整；开发测试人员零生产权限；委员会≥4次/年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《岗位分离矩阵》、IT委员会纪要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战役四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安全基线质量标尺提升，检测规则超越默认配置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SAST/DAST闭环整改率≥90%；核心系统上线前安全测试100%；测试数据清零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《安全基线检测规则定制化报告》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5191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战役五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ITMIS六子方向全面提升，事件台账积累≥6个月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P1/P2 RCA完成率100%（5工作日内）；CMDB准确率≥95%；批处理监控覆盖100%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事件工单台账（月度积累）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战役七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供应链依赖清单首建；外包基础管理例行达标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离场权限48h内回收率100%；代码安全审查100%；第三方依赖清单完成初版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《第三方依赖清单》、外包管理台账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</a:tbl>
          </a:graphicData>
        </a:graphic>
      </p:graphicFrame>
      <p:sp>
        <p:nvSpPr>
          <p:cNvPr id="25" name="Text 22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26" name="Text 23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15</a:t>
            </a:r>
            <a:endParaRPr lang="en-US" sz="97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第七至十章 · 年度作战计划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2027—2030 年度重点突破演进</a:t>
            </a:r>
            <a:endParaRPr lang="en-US" sz="22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70" y="1181039"/>
          <a:ext cx="11124956" cy="914400"/>
        </p:xfrm>
        <a:graphic>
          <a:graphicData uri="http://schemas.openxmlformats.org/drawingml/2006/table">
            <a:tbl>
              <a:tblPr/>
              <a:tblGrid>
                <a:gridCol w="628650"/>
                <a:gridCol w="1238189"/>
                <a:gridCol w="2952689"/>
                <a:gridCol w="1904970"/>
                <a:gridCol w="4190878"/>
              </a:tblGrid>
              <a:tr h="3333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年度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年度主题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重点突破方向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重点突破战役目标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各战役关键目标（简表）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</a:tr>
              <a:tr h="5238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b="1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2027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深化体系·重点成型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b="1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战役四（DevSecOps安全左移成效可量化）</a:t>
                      </a:r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：DevSecOps覆盖主要项目≥60%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上线后缺陷逃逸率较2026基准下降≥30%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战役二KRI自动采集≥80%；战役三漏洞修复周期≤15天；战役五CMDB准确率≥98%；战役六演练≥4个场景/年；战役十钓鱼演练点击率≤8%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69768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b="1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2028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争创优良·全面成熟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b="1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战役二（内部模拟检查里程碑）</a:t>
                      </a:r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：内部监管模拟检查机制建立并完成首次全面运作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整改完成率≥95%；以可核验数据支撑争创优良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战役三攻防演练≥2次/年；战役四DevSecOps覆盖率≥80%；战役五MTTR较基准降低30%；战役六RTO/RPO达标率100%；战役八数据质量检核通过率≥99%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69768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b="1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2029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数字赋能·智能管控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b="1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战役二（监管数据实时自动采集接口上线）</a:t>
                      </a:r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：系统直连监管机构，力争政策性银行同业领先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为2030年量化预测模型建设打好数据基础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战役三威胁响应时效较基准-50%；战役四AI辅助测试覆盖率≥30%；战役五MTTR较基准降低40%；战役六联合演练≥2次/年；战役八数据侧实时接口上线验证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69768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b="1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2030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持续优化·长效治理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b="1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战役二（科技风险量化预测模型成熟验证）</a:t>
                      </a:r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：基于4年数据积累，从"描述已发生风险"跨越到"预测将要发生风险"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五年"播种—积累—收获"完整闭环叙事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战役三重复安全事件率≤5%；战役四缺陷逃逸率≤0.5%；战役五核心系统可用率≥99.99%；战役九AI治理框架输出行业参考；战役十人才文化体系达行业先进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6" name="Text 3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16</a:t>
            </a:r>
            <a:endParaRPr lang="en-US" sz="97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第十一章 · 分工协作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三角联席机制与问题整改销号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5372009" cy="2914559"/>
          </a:xfrm>
          <a:prstGeom prst="roundRect">
            <a:avLst>
              <a:gd name="adj" fmla="val 1882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3440" y="1381110"/>
            <a:ext cx="4971959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信息科技部内部专业板块分工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3440" y="1590599"/>
            <a:ext cx="4971959" cy="9510"/>
          </a:xfrm>
          <a:prstGeom prst="rect">
            <a:avLst/>
          </a:prstGeom>
          <a:solidFill>
            <a:srgbClr val="2A2414"/>
          </a:solidFill>
          <a:ln w="12700">
            <a:solidFill>
              <a:srgbClr val="333333"/>
            </a:solidFill>
            <a:prstDash val="solid"/>
          </a:ln>
        </p:spPr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3440" y="1714500"/>
          <a:ext cx="4971959" cy="914400"/>
        </p:xfrm>
        <a:graphic>
          <a:graphicData uri="http://schemas.openxmlformats.org/drawingml/2006/table">
            <a:tbl>
              <a:tblPr/>
              <a:tblGrid>
                <a:gridCol w="1904970"/>
                <a:gridCol w="2485979"/>
              </a:tblGrid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风险管理-制度处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战役一、二、九：风险识别评估、KRI监测、监管报送合规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5191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网络安全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战役三：网络安全体系、数据安全、漏洞管理、安全运营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5191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开发测试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战役四：软件开发规范、测试质量管控、DevSecOps体系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5191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系统运行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战役五、六：数据中心运营、生产调度、变更管理、容量、灾备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规划/科技资源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战役七：IT规划管理、供应商与外包管理、科技预算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286317" y="1181039"/>
            <a:ext cx="5372009" cy="2914559"/>
          </a:xfrm>
          <a:prstGeom prst="roundRect">
            <a:avLst>
              <a:gd name="adj" fmla="val 1882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86388" y="1381110"/>
            <a:ext cx="4971959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风险—科技—数据 三角联席工作制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486388" y="1590599"/>
            <a:ext cx="4971959" cy="9510"/>
          </a:xfrm>
          <a:prstGeom prst="rect">
            <a:avLst/>
          </a:prstGeom>
          <a:solidFill>
            <a:srgbClr val="2A2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86388" y="1714500"/>
            <a:ext cx="4971959" cy="1920697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定位：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核心日常执行机制。三方分工——风险管理部定标准、信息科技部落执行、数据管理部保质量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事前：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三方会签方可立项（数据管理部定义标准、信息科技部制定技术设计、风险管理部审核合规性）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事中：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信息科技部保稳定，网络安全负责威胁监测，风险管理部实时监测KRI预警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事后：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审计部独立后评价，结论反馈至下一轮三方会签改进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节奏：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双周例会（三方碰头）；月度联合风险报告（上报科委会备案）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33370" y="4267048"/>
            <a:ext cx="11124956" cy="2114459"/>
          </a:xfrm>
          <a:prstGeom prst="roundRect">
            <a:avLst>
              <a:gd name="adj" fmla="val 2595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3440" y="4467118"/>
            <a:ext cx="10724906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「问题整改销号」闭环机制 + IT审计独立性保障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33440" y="4676699"/>
            <a:ext cx="10724906" cy="9510"/>
          </a:xfrm>
          <a:prstGeom prst="rect">
            <a:avLst/>
          </a:prstGeom>
          <a:solidFill>
            <a:srgbClr val="2A2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3440" y="4848149"/>
            <a:ext cx="5333878" cy="1119774"/>
          </a:xfrm>
          <a:prstGeom prst="rect">
            <a:avLst/>
          </a:prstGeom>
          <a:noFill/>
          <a:ln/>
        </p:spPr>
        <p:txBody>
          <a:bodyPr wrap="square" lIns="25400" tIns="0" rIns="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D94F4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发起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风险管理-制度处生成《问题整改清单》</a:t>
            </a:r>
            <a:pPr algn="l" indent="0" marL="0">
              <a:lnSpc>
                <a:spcPct val="140000"/>
              </a:lnSpc>
              <a:buNone/>
            </a:pPr>
            <a:endParaRPr lang="en-US" sz="10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认领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3个工作日内制定整改措施和SLA</a:t>
            </a:r>
            <a:pPr algn="l" indent="0" marL="0">
              <a:lnSpc>
                <a:spcPct val="140000"/>
              </a:lnSpc>
              <a:buNone/>
            </a:pPr>
            <a:endParaRPr lang="en-US" sz="10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3B7DD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验证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审计部非现场+现场穿透测试</a:t>
            </a:r>
            <a:pPr algn="l" indent="0" marL="0">
              <a:lnSpc>
                <a:spcPct val="140000"/>
              </a:lnSpc>
              <a:buNone/>
            </a:pPr>
            <a:endParaRPr lang="en-US" sz="10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3AAD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销号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仅审计部出具"验证通过"意见后方可销号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295827" y="4848149"/>
            <a:ext cx="4990978" cy="1290310"/>
          </a:xfrm>
          <a:prstGeom prst="rect">
            <a:avLst/>
          </a:prstGeom>
          <a:noFill/>
          <a:ln/>
        </p:spPr>
        <p:txBody>
          <a:bodyPr wrap="square" lIns="25400" tIns="0" rIns="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审计部独立性：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不参与科委会决策表决；不参与三角联席事前会签；不参与整改标准制定</a:t>
            </a:r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审计工作体系：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每年Q1制定年度审计计划；三年滚动IT审计计划；全年≥3次专项审计</a:t>
            </a:r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红线：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未通过审计验证严禁销号；逾期自动升级至科委会督办，与绩效考核挂钩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17</a:t>
            </a:r>
            <a:endParaRPr lang="en-US" sz="97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第十二章 · 保障机制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考核激励与应急调整机制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5372009" cy="2647920"/>
          </a:xfrm>
          <a:prstGeom prst="roundRect">
            <a:avLst>
              <a:gd name="adj" fmla="val 2072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3440" y="1381110"/>
            <a:ext cx="4971959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考核与激励机制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3440" y="1590599"/>
            <a:ext cx="4971959" cy="9510"/>
          </a:xfrm>
          <a:prstGeom prst="rect">
            <a:avLst/>
          </a:prstGeom>
          <a:solidFill>
            <a:srgbClr val="2A2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3440" y="1714500"/>
            <a:ext cx="4971959" cy="1510314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双向打分制：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信息科技部绩效30%由风险管理部打分；风险管理部绩效20%由信息科技部打分；审计部由审计委员会独立评价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红线问责：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因部门推诿导致评级下降或重大风险事件的，部门负责人年度绩效一票否决；虚假整改直接移交纪检监察部门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激励机制：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对战役攻坚成效显著、按时完成任务的板块和个人，给予绩效加分和评优表彰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86317" y="1181039"/>
            <a:ext cx="5372009" cy="2647920"/>
          </a:xfrm>
          <a:prstGeom prst="roundRect">
            <a:avLst>
              <a:gd name="adj" fmla="val 2072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86388" y="1381110"/>
            <a:ext cx="4971959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资源保障原则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86388" y="1590599"/>
            <a:ext cx="4971959" cy="9510"/>
          </a:xfrm>
          <a:prstGeom prst="rect">
            <a:avLst/>
          </a:prstGeom>
          <a:solidFill>
            <a:srgbClr val="2A2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86388" y="1714500"/>
            <a:ext cx="4971959" cy="1605504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刚性优先保障：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灾备建设、安全运营、监管合规相关投入不得以预算压缩为由延期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年度滚动预算：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依据当年评估结论动态调整投入重点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四类投入：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工具平台采购与建设 / 系统改造升级 / 外部咨询与审计 / 人员培训与能力建设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人力保障：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关键岗位招聘优先落实；跨部门人力借调由科委会统一审批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33370" y="3981389"/>
            <a:ext cx="1880098" cy="171450"/>
          </a:xfrm>
          <a:prstGeom prst="rect">
            <a:avLst/>
          </a:prstGeom>
          <a:noFill/>
          <a:ln/>
        </p:spPr>
        <p:txBody>
          <a:bodyPr wrap="square" lIns="25400" tIns="0" rIns="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应急调整机制 — 触发场景与响应方案</a:t>
            </a:r>
            <a:endParaRPr lang="en-US" sz="9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70" y="4171859"/>
          <a:ext cx="11124956" cy="914400"/>
        </p:xfrm>
        <a:graphic>
          <a:graphicData uri="http://schemas.openxmlformats.org/drawingml/2006/table">
            <a:tbl>
              <a:tblPr/>
              <a:tblGrid>
                <a:gridCol w="2190720"/>
                <a:gridCol w="4857659"/>
                <a:gridCol w="3905128"/>
              </a:tblGrid>
              <a:tr h="3333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触发场景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应急响应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资源调整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</a:tr>
              <a:tr h="3452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重大信息安全事件（数据泄露/勒索）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24小时内召开紧急会议，暂停非核心战役，资源集中处置与根因整改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战役九、十降级为维持性任务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监管专项检查/突击检查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48小时内成立专项应对小组，对检查涉及维度优先完善证据链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根据检查范围动态调整战役优先级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关键供应商重大事故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启动外包退出应急预案，评估对灾备和运行的影响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战役七升级为最高优先级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监管评级标准重大调整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一周内完成新标准与十大战役映射分析，调整覆盖方案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视影响范围新增或调整战役内容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533370" y="6057717"/>
            <a:ext cx="11124956" cy="381030"/>
          </a:xfrm>
          <a:prstGeom prst="roundRect">
            <a:avLst>
              <a:gd name="adj" fmla="val 9599"/>
            </a:avLst>
          </a:prstGeom>
          <a:solidFill>
            <a:srgbClr val="111C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33370" y="6057717"/>
            <a:ext cx="28529" cy="381030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23839" y="6191128"/>
            <a:ext cx="10743926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D94F4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保底四战役（任何冲击下不得中断）：</a:t>
            </a:r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战役三（信息安全）· 战役四（开发测试）· 战役五（运行管理）· 战役六（业务连续性）</a:t>
            </a:r>
            <a:endParaRPr lang="en-US" sz="975" dirty="0"/>
          </a:p>
        </p:txBody>
      </p:sp>
      <p:sp>
        <p:nvSpPr>
          <p:cNvPr id="17" name="Text 14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18</a:t>
            </a:r>
            <a:endParaRPr lang="en-US" sz="97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1909" y="2000159"/>
            <a:ext cx="3047970" cy="323880"/>
          </a:xfrm>
          <a:prstGeom prst="roundRect">
            <a:avLst>
              <a:gd name="adj" fmla="val 5647"/>
            </a:avLst>
          </a:prstGeom>
          <a:solidFill>
            <a:srgbClr val="0A1628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1909" y="2000159"/>
            <a:ext cx="3047970" cy="3238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2026—2030 协同作战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1809689" y="2571659"/>
            <a:ext cx="8572317" cy="1333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30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从</a:t>
            </a:r>
            <a:pPr algn="ctr" indent="0" marL="0">
              <a:lnSpc>
                <a:spcPct val="135000"/>
              </a:lnSpc>
              <a:buNone/>
            </a:pPr>
            <a:r>
              <a:rPr lang="en-US" sz="330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底线合规</a:t>
            </a:r>
            <a:pPr algn="ctr" indent="0" marL="0">
              <a:lnSpc>
                <a:spcPct val="135000"/>
              </a:lnSpc>
              <a:buNone/>
            </a:pPr>
            <a:r>
              <a:rPr lang="en-US" sz="330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到高质量治理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714817" y="3952768"/>
            <a:ext cx="761970" cy="19020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09689" y="4190878"/>
            <a:ext cx="8572317" cy="3810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十大战役 · 五年演进 · 优良评级稳定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2026-03-10T02:08:28Z</dcterms:created>
  <dcterms:modified xsi:type="dcterms:W3CDTF">2026-03-10T02:08:28Z</dcterms:modified>
</cp:coreProperties>
</file>